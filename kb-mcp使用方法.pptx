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8" r:id="rId4"/>
    <p:sldId id="257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97" autoAdjust="0"/>
    <p:restoredTop sz="95018" autoAdjust="0"/>
  </p:normalViewPr>
  <p:slideViewPr>
    <p:cSldViewPr snapToGrid="0">
      <p:cViewPr varScale="1">
        <p:scale>
          <a:sx n="82" d="100"/>
          <a:sy n="82" d="100"/>
        </p:scale>
        <p:origin x="114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133896" y="1000108"/>
            <a:ext cx="7467616" cy="1928826"/>
          </a:xfrm>
        </p:spPr>
        <p:txBody>
          <a:bodyPr/>
          <a:lstStyle>
            <a:lvl1pPr algn="r"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4138681" y="2928934"/>
            <a:ext cx="7486643" cy="142876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  <p:sp>
        <p:nvSpPr>
          <p:cNvPr id="25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8763000" y="6500813"/>
            <a:ext cx="2844800" cy="222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fld id="{395A8F4C-AB63-4493-B324-25028DBC0CD6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26" name="スライド番号プレースホルダ 5"/>
          <p:cNvSpPr>
            <a:spLocks noGrp="1"/>
          </p:cNvSpPr>
          <p:nvPr>
            <p:ph type="sldNum" sz="quarter" idx="11"/>
          </p:nvPr>
        </p:nvSpPr>
        <p:spPr>
          <a:xfrm>
            <a:off x="285709" y="6429397"/>
            <a:ext cx="857256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fld id="{7DA1F0EC-2B79-41BE-BBA0-CED2E6544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27" name="グループ化 38"/>
          <p:cNvGrpSpPr>
            <a:grpSpLocks/>
          </p:cNvGrpSpPr>
          <p:nvPr/>
        </p:nvGrpSpPr>
        <p:grpSpPr bwMode="auto">
          <a:xfrm>
            <a:off x="254000" y="555626"/>
            <a:ext cx="6985000" cy="6016625"/>
            <a:chOff x="191212" y="556099"/>
            <a:chExt cx="5238044" cy="6016173"/>
          </a:xfrm>
        </p:grpSpPr>
        <p:sp>
          <p:nvSpPr>
            <p:cNvPr id="28" name="正方形/長方形 27"/>
            <p:cNvSpPr/>
            <p:nvPr/>
          </p:nvSpPr>
          <p:spPr>
            <a:xfrm>
              <a:off x="429305" y="5643655"/>
              <a:ext cx="1142846" cy="28572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29" name="正方形/長方形 28"/>
            <p:cNvSpPr/>
            <p:nvPr/>
          </p:nvSpPr>
          <p:spPr>
            <a:xfrm rot="16200000">
              <a:off x="-381048" y="2771291"/>
              <a:ext cx="1473089" cy="9047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715016" y="6169077"/>
              <a:ext cx="1142846" cy="460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31" name="正方形/長方形 30"/>
            <p:cNvSpPr/>
            <p:nvPr/>
          </p:nvSpPr>
          <p:spPr>
            <a:xfrm rot="16200000">
              <a:off x="-211992" y="5967483"/>
              <a:ext cx="1133390" cy="76190"/>
            </a:xfrm>
            <a:prstGeom prst="rect">
              <a:avLst/>
            </a:prstGeom>
            <a:solidFill>
              <a:srgbClr val="CB0C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32" name="正方形/長方形 31"/>
            <p:cNvSpPr/>
            <p:nvPr/>
          </p:nvSpPr>
          <p:spPr>
            <a:xfrm rot="16200000">
              <a:off x="210227" y="5632549"/>
              <a:ext cx="1073069" cy="209522"/>
            </a:xfrm>
            <a:prstGeom prst="rect">
              <a:avLst/>
            </a:prstGeom>
            <a:solidFill>
              <a:srgbClr val="CB0C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33" name="正方形/長方形 32"/>
            <p:cNvSpPr/>
            <p:nvPr/>
          </p:nvSpPr>
          <p:spPr>
            <a:xfrm rot="16200000">
              <a:off x="54661" y="3924522"/>
              <a:ext cx="1515948" cy="46031"/>
            </a:xfrm>
            <a:prstGeom prst="rect">
              <a:avLst/>
            </a:prstGeom>
            <a:solidFill>
              <a:srgbClr val="CB0C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34" name="正方形/長方形 33"/>
            <p:cNvSpPr/>
            <p:nvPr/>
          </p:nvSpPr>
          <p:spPr>
            <a:xfrm rot="16200000">
              <a:off x="-6437" y="4496780"/>
              <a:ext cx="1103229" cy="25396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35" name="正方形/長方形 34"/>
            <p:cNvSpPr/>
            <p:nvPr/>
          </p:nvSpPr>
          <p:spPr>
            <a:xfrm rot="16200000">
              <a:off x="-6437" y="3360215"/>
              <a:ext cx="1103229" cy="25396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36" name="正方形/長方形 35"/>
            <p:cNvSpPr/>
            <p:nvPr/>
          </p:nvSpPr>
          <p:spPr>
            <a:xfrm rot="16200000">
              <a:off x="-211992" y="4824569"/>
              <a:ext cx="1133390" cy="7619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37" name="正方形/長方形 36"/>
            <p:cNvSpPr/>
            <p:nvPr/>
          </p:nvSpPr>
          <p:spPr>
            <a:xfrm rot="16200000">
              <a:off x="356256" y="5410314"/>
              <a:ext cx="1174662" cy="15555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38" name="正方形/長方形 37"/>
            <p:cNvSpPr/>
            <p:nvPr/>
          </p:nvSpPr>
          <p:spPr>
            <a:xfrm rot="16200000">
              <a:off x="547535" y="4390422"/>
              <a:ext cx="798452" cy="161903"/>
            </a:xfrm>
            <a:prstGeom prst="rect">
              <a:avLst/>
            </a:prstGeom>
            <a:solidFill>
              <a:srgbClr val="CB0C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2572141" y="6072248"/>
              <a:ext cx="1174592" cy="15397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1730879" y="6075422"/>
              <a:ext cx="819040" cy="90480"/>
            </a:xfrm>
            <a:prstGeom prst="rect">
              <a:avLst/>
            </a:prstGeom>
            <a:solidFill>
              <a:srgbClr val="CB0C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191212" y="6332578"/>
              <a:ext cx="1176179" cy="20159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1383264" y="6324641"/>
              <a:ext cx="819040" cy="207947"/>
            </a:xfrm>
            <a:prstGeom prst="rect">
              <a:avLst/>
            </a:prstGeom>
            <a:solidFill>
              <a:srgbClr val="CB0C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43" name="正方形/長方形 42"/>
            <p:cNvSpPr/>
            <p:nvPr/>
          </p:nvSpPr>
          <p:spPr>
            <a:xfrm rot="16200000">
              <a:off x="-424700" y="1291058"/>
              <a:ext cx="1515949" cy="46031"/>
            </a:xfrm>
            <a:prstGeom prst="rect">
              <a:avLst/>
            </a:prstGeom>
            <a:solidFill>
              <a:srgbClr val="CB0C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3419752" y="6238922"/>
              <a:ext cx="2009504" cy="47621"/>
            </a:xfrm>
            <a:prstGeom prst="rect">
              <a:avLst/>
            </a:prstGeom>
            <a:solidFill>
              <a:srgbClr val="CB0C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2215002" y="6481792"/>
              <a:ext cx="1515858" cy="507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/>
            </a:p>
          </p:txBody>
        </p:sp>
      </p:grpSp>
      <p:pic>
        <p:nvPicPr>
          <p:cNvPr id="46" name="Picture 2" descr="C:\Documents and Settings\hiroyuki.watanabe\My Documents\eXmotion\販促\ロゴ\黒字_背景透明_2100x660.png">
            <a:extLst>
              <a:ext uri="{FF2B5EF4-FFF2-40B4-BE49-F238E27FC236}">
                <a16:creationId xmlns:a16="http://schemas.microsoft.com/office/drawing/2014/main" id="{394CF75F-AB14-44F0-885A-2858367CF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026" y="5157192"/>
            <a:ext cx="3320298" cy="10435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6474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85710" y="142852"/>
            <a:ext cx="11620581" cy="725470"/>
          </a:xfrm>
        </p:spPr>
        <p:txBody>
          <a:bodyPr>
            <a:normAutofit/>
          </a:bodyPr>
          <a:lstStyle>
            <a:lvl1pPr algn="l">
              <a:defRPr sz="3600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85710" y="1285861"/>
            <a:ext cx="11620581" cy="5085122"/>
          </a:xfrm>
        </p:spPr>
        <p:txBody>
          <a:bodyPr/>
          <a:lstStyle>
            <a:lvl1pPr marL="357188" indent="-357188">
              <a:buClr>
                <a:srgbClr val="C00000"/>
              </a:buClr>
              <a:buSzPct val="70000"/>
              <a:buFont typeface="ＭＳ Ｐゴシック" pitchFamily="50" charset="-128"/>
              <a:buChar char="▊"/>
              <a:defRPr sz="2400" baseline="0">
                <a:latin typeface="+mn-ea"/>
                <a:ea typeface="+mn-ea"/>
              </a:defRPr>
            </a:lvl1pPr>
            <a:lvl2pPr marL="712788" indent="-273050">
              <a:buClr>
                <a:srgbClr val="CC0C0C"/>
              </a:buClr>
              <a:buSzPct val="90000"/>
              <a:buFontTx/>
              <a:buBlip>
                <a:blip r:embed="rId2"/>
              </a:buBlip>
              <a:defRPr sz="2000" baseline="0">
                <a:latin typeface="+mn-ea"/>
                <a:ea typeface="+mn-ea"/>
              </a:defRPr>
            </a:lvl2pPr>
            <a:lvl3pPr marL="1079500" indent="-265113">
              <a:buClr>
                <a:srgbClr val="C00000"/>
              </a:buClr>
              <a:buSzPct val="80000"/>
              <a:buFont typeface="Wingdings" pitchFamily="2" charset="2"/>
              <a:buChar char="n"/>
              <a:defRPr sz="1800" baseline="0">
                <a:latin typeface="+mn-ea"/>
                <a:ea typeface="+mn-ea"/>
              </a:defRPr>
            </a:lvl3pPr>
            <a:lvl4pPr marL="1347788" indent="-228600">
              <a:buClr>
                <a:srgbClr val="CC0C0C"/>
              </a:buClr>
              <a:buSzPct val="90000"/>
              <a:buFont typeface="Wingdings" pitchFamily="2" charset="2"/>
              <a:buChar char="l"/>
              <a:defRPr sz="1600" baseline="0">
                <a:latin typeface="+mn-ea"/>
                <a:ea typeface="+mn-ea"/>
              </a:defRPr>
            </a:lvl4pPr>
            <a:lvl5pPr marL="1616075" indent="-228600">
              <a:buClr>
                <a:schemeClr val="tx1">
                  <a:lumMod val="65000"/>
                  <a:lumOff val="35000"/>
                </a:schemeClr>
              </a:buClr>
              <a:buSzPct val="80000"/>
              <a:buFontTx/>
              <a:buBlip>
                <a:blip r:embed="rId3"/>
              </a:buBlip>
              <a:defRPr sz="1800" baseline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正方形/長方形 11"/>
          <p:cNvSpPr/>
          <p:nvPr/>
        </p:nvSpPr>
        <p:spPr>
          <a:xfrm>
            <a:off x="1428717" y="928671"/>
            <a:ext cx="2095515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12658" y="928670"/>
            <a:ext cx="1416060" cy="142876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2476475" y="1000109"/>
            <a:ext cx="2381267" cy="7143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3524233" y="928670"/>
            <a:ext cx="4000528" cy="71438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12658" y="1071547"/>
            <a:ext cx="844556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/>
        </p:nvSpPr>
        <p:spPr>
          <a:xfrm>
            <a:off x="11036293" y="1000108"/>
            <a:ext cx="1143008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/>
          <p:cNvSpPr/>
          <p:nvPr/>
        </p:nvSpPr>
        <p:spPr>
          <a:xfrm>
            <a:off x="11988841" y="928671"/>
            <a:ext cx="190459" cy="7143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1428717" y="928671"/>
            <a:ext cx="2095515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>
            <a:off x="12658" y="928670"/>
            <a:ext cx="1416060" cy="142876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/>
        </p:nvSpPr>
        <p:spPr>
          <a:xfrm>
            <a:off x="2476475" y="1000109"/>
            <a:ext cx="2381267" cy="7143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/>
          <p:cNvSpPr/>
          <p:nvPr/>
        </p:nvSpPr>
        <p:spPr>
          <a:xfrm>
            <a:off x="3524233" y="928670"/>
            <a:ext cx="4000528" cy="71438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/>
        </p:nvSpPr>
        <p:spPr>
          <a:xfrm>
            <a:off x="12658" y="1071547"/>
            <a:ext cx="844556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/>
        </p:nvSpPr>
        <p:spPr>
          <a:xfrm>
            <a:off x="11036293" y="1000108"/>
            <a:ext cx="1143008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>
            <a:off x="11988841" y="928671"/>
            <a:ext cx="190459" cy="7143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014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>
            <a:spLocks noGrp="1"/>
          </p:cNvSpPr>
          <p:nvPr>
            <p:ph type="ctrTitle"/>
          </p:nvPr>
        </p:nvSpPr>
        <p:spPr>
          <a:xfrm>
            <a:off x="2000221" y="3127380"/>
            <a:ext cx="10001320" cy="1285883"/>
          </a:xfrm>
        </p:spPr>
        <p:txBody>
          <a:bodyPr anchor="b" anchorCtr="0">
            <a:normAutofit/>
          </a:bodyPr>
          <a:lstStyle>
            <a:lvl1pPr algn="r">
              <a:defRPr sz="4000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サブタイトル 2"/>
          <p:cNvSpPr>
            <a:spLocks noGrp="1"/>
          </p:cNvSpPr>
          <p:nvPr>
            <p:ph type="subTitle" idx="1"/>
          </p:nvPr>
        </p:nvSpPr>
        <p:spPr>
          <a:xfrm>
            <a:off x="3428981" y="5127643"/>
            <a:ext cx="8534400" cy="508001"/>
          </a:xfrm>
        </p:spPr>
        <p:txBody>
          <a:bodyPr/>
          <a:lstStyle>
            <a:lvl1pPr marL="0" indent="0" algn="r">
              <a:buNone/>
              <a:defRPr sz="28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8166115" y="4484701"/>
            <a:ext cx="2209816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10356880" y="4484700"/>
            <a:ext cx="1809720" cy="214314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5213344" y="4591858"/>
            <a:ext cx="4591083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1974822" y="4484702"/>
            <a:ext cx="6191295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7499360" y="4699014"/>
            <a:ext cx="2857520" cy="214314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6451603" y="4699015"/>
            <a:ext cx="1047757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10356880" y="4699015"/>
            <a:ext cx="1809720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10833134" y="4913329"/>
            <a:ext cx="762005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285709" y="6429397"/>
            <a:ext cx="857256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DA1F0EC-2B79-41BE-BBA0-CED2E6544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>
            <a:off x="8166115" y="4484701"/>
            <a:ext cx="2209816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/>
        </p:nvSpPr>
        <p:spPr>
          <a:xfrm>
            <a:off x="10356880" y="4484700"/>
            <a:ext cx="1809720" cy="214314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/>
        </p:nvSpPr>
        <p:spPr>
          <a:xfrm>
            <a:off x="5213344" y="4591858"/>
            <a:ext cx="4591083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/>
          <p:cNvSpPr/>
          <p:nvPr/>
        </p:nvSpPr>
        <p:spPr>
          <a:xfrm>
            <a:off x="1974822" y="4484702"/>
            <a:ext cx="6191295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/>
          <p:cNvSpPr/>
          <p:nvPr/>
        </p:nvSpPr>
        <p:spPr>
          <a:xfrm>
            <a:off x="7499360" y="4699014"/>
            <a:ext cx="2857520" cy="214314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/>
        </p:nvSpPr>
        <p:spPr>
          <a:xfrm>
            <a:off x="6451603" y="4699015"/>
            <a:ext cx="1047757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/>
        </p:nvSpPr>
        <p:spPr>
          <a:xfrm>
            <a:off x="10356880" y="4699015"/>
            <a:ext cx="1809720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>
            <a:off x="10833134" y="4913329"/>
            <a:ext cx="762005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7809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title"/>
          </p:nvPr>
        </p:nvSpPr>
        <p:spPr>
          <a:xfrm>
            <a:off x="285710" y="142852"/>
            <a:ext cx="11620581" cy="725470"/>
          </a:xfrm>
        </p:spPr>
        <p:txBody>
          <a:bodyPr>
            <a:normAutofit/>
          </a:bodyPr>
          <a:lstStyle>
            <a:lvl1pPr algn="l">
              <a:defRPr sz="4000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1428717" y="928671"/>
            <a:ext cx="2095515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12658" y="928670"/>
            <a:ext cx="1416060" cy="142876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2476475" y="1000109"/>
            <a:ext cx="2381267" cy="7143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3524233" y="928670"/>
            <a:ext cx="4000528" cy="71438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12658" y="1071547"/>
            <a:ext cx="844556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11036293" y="1000108"/>
            <a:ext cx="1143008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11988841" y="928671"/>
            <a:ext cx="190459" cy="7143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コンテンツ プレースホルダ 2"/>
          <p:cNvSpPr>
            <a:spLocks noGrp="1"/>
          </p:cNvSpPr>
          <p:nvPr>
            <p:ph idx="13"/>
          </p:nvPr>
        </p:nvSpPr>
        <p:spPr>
          <a:xfrm>
            <a:off x="285710" y="1285861"/>
            <a:ext cx="5619789" cy="4840303"/>
          </a:xfrm>
        </p:spPr>
        <p:txBody>
          <a:bodyPr/>
          <a:lstStyle>
            <a:lvl1pPr marL="357188" indent="-357188">
              <a:buClr>
                <a:srgbClr val="000000"/>
              </a:buClr>
              <a:buSzPct val="70000"/>
              <a:buFont typeface="ＭＳ Ｐゴシック" pitchFamily="50" charset="-128"/>
              <a:buChar char="▊"/>
              <a:defRPr sz="2800" baseline="0">
                <a:latin typeface="+mn-ea"/>
                <a:ea typeface="+mn-ea"/>
              </a:defRPr>
            </a:lvl1pPr>
            <a:lvl2pPr marL="712788" indent="-273050">
              <a:buClr>
                <a:srgbClr val="CC0C0C"/>
              </a:buClr>
              <a:buSzPct val="90000"/>
              <a:buFontTx/>
              <a:buBlip>
                <a:blip r:embed="rId2"/>
              </a:buBlip>
              <a:defRPr sz="2400" baseline="0">
                <a:latin typeface="+mn-ea"/>
                <a:ea typeface="+mn-ea"/>
              </a:defRPr>
            </a:lvl2pPr>
            <a:lvl3pPr marL="1079500" indent="-265113">
              <a:buClr>
                <a:schemeClr val="tx1">
                  <a:lumMod val="75000"/>
                  <a:lumOff val="25000"/>
                </a:schemeClr>
              </a:buClr>
              <a:buSzPct val="80000"/>
              <a:buFont typeface="Wingdings" pitchFamily="2" charset="2"/>
              <a:buChar char="n"/>
              <a:defRPr sz="2000" baseline="0">
                <a:latin typeface="+mn-ea"/>
                <a:ea typeface="+mn-ea"/>
              </a:defRPr>
            </a:lvl3pPr>
            <a:lvl4pPr marL="1347788" indent="-228600">
              <a:buClr>
                <a:srgbClr val="CC0C0C"/>
              </a:buClr>
              <a:buSzPct val="90000"/>
              <a:buFont typeface="Wingdings" pitchFamily="2" charset="2"/>
              <a:buChar char="l"/>
              <a:defRPr sz="1800" baseline="0">
                <a:latin typeface="+mn-ea"/>
                <a:ea typeface="+mn-ea"/>
              </a:defRPr>
            </a:lvl4pPr>
            <a:lvl5pPr marL="1616075" indent="-228600">
              <a:buClr>
                <a:schemeClr val="tx1">
                  <a:lumMod val="65000"/>
                  <a:lumOff val="35000"/>
                </a:schemeClr>
              </a:buClr>
              <a:buSzPct val="80000"/>
              <a:buFontTx/>
              <a:buBlip>
                <a:blip r:embed="rId3"/>
              </a:buBlip>
              <a:defRPr sz="1800" baseline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8" name="コンテンツ プレースホルダ 2"/>
          <p:cNvSpPr>
            <a:spLocks noGrp="1"/>
          </p:cNvSpPr>
          <p:nvPr>
            <p:ph idx="14"/>
          </p:nvPr>
        </p:nvSpPr>
        <p:spPr>
          <a:xfrm>
            <a:off x="6286502" y="1285861"/>
            <a:ext cx="5619789" cy="4840303"/>
          </a:xfrm>
        </p:spPr>
        <p:txBody>
          <a:bodyPr/>
          <a:lstStyle>
            <a:lvl1pPr marL="357188" indent="-357188">
              <a:buClr>
                <a:srgbClr val="000000"/>
              </a:buClr>
              <a:buSzPct val="70000"/>
              <a:buFont typeface="ＭＳ Ｐゴシック" pitchFamily="50" charset="-128"/>
              <a:buChar char="▊"/>
              <a:defRPr sz="2800" baseline="0">
                <a:latin typeface="+mn-ea"/>
                <a:ea typeface="+mn-ea"/>
              </a:defRPr>
            </a:lvl1pPr>
            <a:lvl2pPr marL="712788" indent="-273050">
              <a:buClr>
                <a:srgbClr val="CC0C0C"/>
              </a:buClr>
              <a:buSzPct val="90000"/>
              <a:buFontTx/>
              <a:buBlip>
                <a:blip r:embed="rId2"/>
              </a:buBlip>
              <a:defRPr sz="2400" baseline="0">
                <a:latin typeface="+mn-ea"/>
                <a:ea typeface="+mn-ea"/>
              </a:defRPr>
            </a:lvl2pPr>
            <a:lvl3pPr marL="1079500" indent="-265113">
              <a:buClr>
                <a:schemeClr val="tx1">
                  <a:lumMod val="75000"/>
                  <a:lumOff val="25000"/>
                </a:schemeClr>
              </a:buClr>
              <a:buSzPct val="80000"/>
              <a:buFont typeface="Wingdings" pitchFamily="2" charset="2"/>
              <a:buChar char="n"/>
              <a:defRPr sz="2000" baseline="0">
                <a:latin typeface="+mn-ea"/>
                <a:ea typeface="+mn-ea"/>
              </a:defRPr>
            </a:lvl3pPr>
            <a:lvl4pPr marL="1347788" indent="-228600">
              <a:buClr>
                <a:srgbClr val="CC0C0C"/>
              </a:buClr>
              <a:buSzPct val="90000"/>
              <a:buFont typeface="Wingdings" pitchFamily="2" charset="2"/>
              <a:buChar char="l"/>
              <a:defRPr sz="1800" baseline="0">
                <a:latin typeface="+mn-ea"/>
                <a:ea typeface="+mn-ea"/>
              </a:defRPr>
            </a:lvl4pPr>
            <a:lvl5pPr marL="1616075" indent="-228600">
              <a:buClr>
                <a:schemeClr val="tx1">
                  <a:lumMod val="65000"/>
                  <a:lumOff val="35000"/>
                </a:schemeClr>
              </a:buClr>
              <a:buSzPct val="80000"/>
              <a:buFontTx/>
              <a:buBlip>
                <a:blip r:embed="rId3"/>
              </a:buBlip>
              <a:defRPr sz="1800" baseline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20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285709" y="6429397"/>
            <a:ext cx="857256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DA1F0EC-2B79-41BE-BBA0-CED2E6544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1428717" y="928671"/>
            <a:ext cx="2095515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/>
        </p:nvSpPr>
        <p:spPr>
          <a:xfrm>
            <a:off x="12658" y="928670"/>
            <a:ext cx="1416060" cy="142876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/>
          <p:cNvSpPr/>
          <p:nvPr/>
        </p:nvSpPr>
        <p:spPr>
          <a:xfrm>
            <a:off x="2476475" y="1000109"/>
            <a:ext cx="2381267" cy="7143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/>
          <p:cNvSpPr/>
          <p:nvPr/>
        </p:nvSpPr>
        <p:spPr>
          <a:xfrm>
            <a:off x="3524233" y="928670"/>
            <a:ext cx="4000528" cy="71438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/>
        </p:nvSpPr>
        <p:spPr>
          <a:xfrm>
            <a:off x="12658" y="1071547"/>
            <a:ext cx="844556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/>
        </p:nvSpPr>
        <p:spPr>
          <a:xfrm>
            <a:off x="11036293" y="1000108"/>
            <a:ext cx="1143008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>
            <a:off x="11988841" y="928671"/>
            <a:ext cx="190459" cy="7143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603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95A8F4C-AB63-4493-B324-25028DBC0CD6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1F0EC-2B79-41BE-BBA0-CED2E6544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7713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95A8F4C-AB63-4493-B324-25028DBC0CD6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1F0EC-2B79-41BE-BBA0-CED2E6544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2027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95A8F4C-AB63-4493-B324-25028DBC0CD6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1F0EC-2B79-41BE-BBA0-CED2E6544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262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95A8F4C-AB63-4493-B324-25028DBC0CD6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1F0EC-2B79-41BE-BBA0-CED2E6544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31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95A8F4C-AB63-4493-B324-25028DBC0CD6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1F0EC-2B79-41BE-BBA0-CED2E6544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9323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95A8F4C-AB63-4493-B324-25028DBC0CD6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1F0EC-2B79-41BE-BBA0-CED2E6544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1749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95A8F4C-AB63-4493-B324-25028DBC0CD6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1F0EC-2B79-41BE-BBA0-CED2E6544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1510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>
            <a:spLocks noGrp="1"/>
          </p:cNvSpPr>
          <p:nvPr>
            <p:ph type="ctrTitle"/>
          </p:nvPr>
        </p:nvSpPr>
        <p:spPr>
          <a:xfrm>
            <a:off x="2000221" y="3127380"/>
            <a:ext cx="10001320" cy="1285883"/>
          </a:xfrm>
        </p:spPr>
        <p:txBody>
          <a:bodyPr anchor="b" anchorCtr="0">
            <a:normAutofit/>
          </a:bodyPr>
          <a:lstStyle>
            <a:lvl1pPr algn="r">
              <a:defRPr sz="4000">
                <a:latin typeface="MS UI Gothic" pitchFamily="50" charset="-128"/>
                <a:ea typeface="MS UI Gothic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サブタイトル 2"/>
          <p:cNvSpPr>
            <a:spLocks noGrp="1"/>
          </p:cNvSpPr>
          <p:nvPr>
            <p:ph type="subTitle" idx="1"/>
          </p:nvPr>
        </p:nvSpPr>
        <p:spPr>
          <a:xfrm>
            <a:off x="3428981" y="5127643"/>
            <a:ext cx="8534400" cy="508001"/>
          </a:xfrm>
        </p:spPr>
        <p:txBody>
          <a:bodyPr/>
          <a:lstStyle>
            <a:lvl1pPr marL="0" indent="0" algn="r">
              <a:buNone/>
              <a:defRPr sz="2800">
                <a:solidFill>
                  <a:schemeClr val="tx1">
                    <a:tint val="75000"/>
                  </a:schemeClr>
                </a:solidFill>
                <a:latin typeface="MS UI Gothic" pitchFamily="50" charset="-128"/>
                <a:ea typeface="MS UI Gothic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8166115" y="4484701"/>
            <a:ext cx="2209816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10356880" y="4484700"/>
            <a:ext cx="1809720" cy="214314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5213344" y="4591858"/>
            <a:ext cx="4591083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1974822" y="4484702"/>
            <a:ext cx="6191295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7499360" y="4699014"/>
            <a:ext cx="2857520" cy="214314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6451603" y="4699015"/>
            <a:ext cx="1047757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10356880" y="4699015"/>
            <a:ext cx="1809720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10833134" y="4913329"/>
            <a:ext cx="762005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285709" y="6429397"/>
            <a:ext cx="857256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DA1F0EC-2B79-41BE-BBA0-CED2E6544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76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title"/>
          </p:nvPr>
        </p:nvSpPr>
        <p:spPr>
          <a:xfrm>
            <a:off x="285710" y="142852"/>
            <a:ext cx="11620581" cy="725470"/>
          </a:xfrm>
        </p:spPr>
        <p:txBody>
          <a:bodyPr>
            <a:normAutofit/>
          </a:bodyPr>
          <a:lstStyle>
            <a:lvl1pPr algn="l">
              <a:defRPr sz="4000">
                <a:latin typeface="MS UI Gothic" pitchFamily="50" charset="-128"/>
                <a:ea typeface="MS UI Gothic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1428717" y="928671"/>
            <a:ext cx="2095515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12658" y="928670"/>
            <a:ext cx="1416060" cy="142876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2476475" y="1000109"/>
            <a:ext cx="2381267" cy="7143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3524233" y="928670"/>
            <a:ext cx="4000528" cy="71438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12658" y="1071547"/>
            <a:ext cx="844556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11036293" y="1000108"/>
            <a:ext cx="1143008" cy="71438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11988841" y="928671"/>
            <a:ext cx="190459" cy="7143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コンテンツ プレースホルダ 2"/>
          <p:cNvSpPr>
            <a:spLocks noGrp="1"/>
          </p:cNvSpPr>
          <p:nvPr>
            <p:ph idx="13"/>
          </p:nvPr>
        </p:nvSpPr>
        <p:spPr>
          <a:xfrm>
            <a:off x="285710" y="1285861"/>
            <a:ext cx="5619789" cy="4840303"/>
          </a:xfrm>
        </p:spPr>
        <p:txBody>
          <a:bodyPr/>
          <a:lstStyle>
            <a:lvl1pPr marL="357188" indent="-357188">
              <a:buClr>
                <a:srgbClr val="000000"/>
              </a:buClr>
              <a:buSzPct val="70000"/>
              <a:buFont typeface="ＭＳ Ｐゴシック" pitchFamily="50" charset="-128"/>
              <a:buChar char="▊"/>
              <a:defRPr sz="2800" baseline="0">
                <a:latin typeface="Verdana" pitchFamily="34" charset="0"/>
                <a:ea typeface="MS UI Gothic" pitchFamily="50" charset="-128"/>
              </a:defRPr>
            </a:lvl1pPr>
            <a:lvl2pPr marL="712788" indent="-273050">
              <a:buClr>
                <a:srgbClr val="CC0C0C"/>
              </a:buClr>
              <a:buSzPct val="90000"/>
              <a:buFontTx/>
              <a:buBlip>
                <a:blip r:embed="rId2"/>
              </a:buBlip>
              <a:defRPr sz="2400" baseline="0">
                <a:latin typeface="Verdana" pitchFamily="34" charset="0"/>
                <a:ea typeface="MS UI Gothic" pitchFamily="50" charset="-128"/>
              </a:defRPr>
            </a:lvl2pPr>
            <a:lvl3pPr marL="1079500" indent="-265113">
              <a:buClr>
                <a:schemeClr val="tx1">
                  <a:lumMod val="75000"/>
                  <a:lumOff val="25000"/>
                </a:schemeClr>
              </a:buClr>
              <a:buSzPct val="80000"/>
              <a:buFont typeface="Wingdings" pitchFamily="2" charset="2"/>
              <a:buChar char="n"/>
              <a:defRPr sz="2000" baseline="0">
                <a:latin typeface="Verdana" pitchFamily="34" charset="0"/>
                <a:ea typeface="MS UI Gothic" pitchFamily="50" charset="-128"/>
              </a:defRPr>
            </a:lvl3pPr>
            <a:lvl4pPr marL="1347788" indent="-228600">
              <a:buClr>
                <a:srgbClr val="CC0C0C"/>
              </a:buClr>
              <a:buSzPct val="90000"/>
              <a:buFont typeface="Wingdings" pitchFamily="2" charset="2"/>
              <a:buChar char="l"/>
              <a:defRPr sz="1800" baseline="0">
                <a:latin typeface="Verdana" pitchFamily="34" charset="0"/>
                <a:ea typeface="MS UI Gothic" pitchFamily="50" charset="-128"/>
              </a:defRPr>
            </a:lvl4pPr>
            <a:lvl5pPr marL="1616075" indent="-228600">
              <a:buClr>
                <a:schemeClr val="tx1">
                  <a:lumMod val="65000"/>
                  <a:lumOff val="35000"/>
                </a:schemeClr>
              </a:buClr>
              <a:buSzPct val="80000"/>
              <a:buFontTx/>
              <a:buBlip>
                <a:blip r:embed="rId3"/>
              </a:buBlip>
              <a:defRPr sz="1800" baseline="0">
                <a:latin typeface="Verdana" pitchFamily="34" charset="0"/>
                <a:ea typeface="MS UI Gothic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8" name="コンテンツ プレースホルダ 2"/>
          <p:cNvSpPr>
            <a:spLocks noGrp="1"/>
          </p:cNvSpPr>
          <p:nvPr>
            <p:ph idx="14"/>
          </p:nvPr>
        </p:nvSpPr>
        <p:spPr>
          <a:xfrm>
            <a:off x="6286502" y="1285861"/>
            <a:ext cx="5619789" cy="4840303"/>
          </a:xfrm>
        </p:spPr>
        <p:txBody>
          <a:bodyPr/>
          <a:lstStyle>
            <a:lvl1pPr marL="357188" indent="-357188">
              <a:buClr>
                <a:srgbClr val="000000"/>
              </a:buClr>
              <a:buSzPct val="70000"/>
              <a:buFont typeface="ＭＳ Ｐゴシック" pitchFamily="50" charset="-128"/>
              <a:buChar char="▊"/>
              <a:defRPr sz="2800" baseline="0">
                <a:latin typeface="Verdana" pitchFamily="34" charset="0"/>
                <a:ea typeface="MS UI Gothic" pitchFamily="50" charset="-128"/>
              </a:defRPr>
            </a:lvl1pPr>
            <a:lvl2pPr marL="712788" indent="-273050">
              <a:buClr>
                <a:srgbClr val="CC0C0C"/>
              </a:buClr>
              <a:buSzPct val="90000"/>
              <a:buFontTx/>
              <a:buBlip>
                <a:blip r:embed="rId2"/>
              </a:buBlip>
              <a:defRPr sz="2400" baseline="0">
                <a:latin typeface="Verdana" pitchFamily="34" charset="0"/>
                <a:ea typeface="MS UI Gothic" pitchFamily="50" charset="-128"/>
              </a:defRPr>
            </a:lvl2pPr>
            <a:lvl3pPr marL="1079500" indent="-265113">
              <a:buClr>
                <a:schemeClr val="tx1">
                  <a:lumMod val="75000"/>
                  <a:lumOff val="25000"/>
                </a:schemeClr>
              </a:buClr>
              <a:buSzPct val="80000"/>
              <a:buFont typeface="Wingdings" pitchFamily="2" charset="2"/>
              <a:buChar char="n"/>
              <a:defRPr sz="2000" baseline="0">
                <a:latin typeface="Verdana" pitchFamily="34" charset="0"/>
                <a:ea typeface="MS UI Gothic" pitchFamily="50" charset="-128"/>
              </a:defRPr>
            </a:lvl3pPr>
            <a:lvl4pPr marL="1347788" indent="-228600">
              <a:buClr>
                <a:srgbClr val="CC0C0C"/>
              </a:buClr>
              <a:buSzPct val="90000"/>
              <a:buFont typeface="Wingdings" pitchFamily="2" charset="2"/>
              <a:buChar char="l"/>
              <a:defRPr sz="1800" baseline="0">
                <a:latin typeface="Verdana" pitchFamily="34" charset="0"/>
                <a:ea typeface="MS UI Gothic" pitchFamily="50" charset="-128"/>
              </a:defRPr>
            </a:lvl4pPr>
            <a:lvl5pPr marL="1616075" indent="-228600">
              <a:buClr>
                <a:schemeClr val="tx1">
                  <a:lumMod val="65000"/>
                  <a:lumOff val="35000"/>
                </a:schemeClr>
              </a:buClr>
              <a:buSzPct val="80000"/>
              <a:buFontTx/>
              <a:buBlip>
                <a:blip r:embed="rId3"/>
              </a:buBlip>
              <a:defRPr sz="1800" baseline="0">
                <a:latin typeface="Verdana" pitchFamily="34" charset="0"/>
                <a:ea typeface="MS UI Gothic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20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285709" y="6429397"/>
            <a:ext cx="857256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DA1F0EC-2B79-41BE-BBA0-CED2E6544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2514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000221" y="3127380"/>
            <a:ext cx="10001320" cy="1285883"/>
          </a:xfrm>
        </p:spPr>
        <p:txBody>
          <a:bodyPr anchor="b" anchorCtr="0">
            <a:normAutofit/>
          </a:bodyPr>
          <a:lstStyle>
            <a:lvl1pPr algn="r">
              <a:defRPr sz="4000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000221" y="5127643"/>
            <a:ext cx="9963160" cy="508001"/>
          </a:xfrm>
        </p:spPr>
        <p:txBody>
          <a:bodyPr/>
          <a:lstStyle>
            <a:lvl1pPr marL="0" indent="0" algn="r">
              <a:buNone/>
              <a:defRPr sz="28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8166115" y="4484701"/>
            <a:ext cx="2209816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10356880" y="4484700"/>
            <a:ext cx="1809720" cy="214314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5213344" y="4591858"/>
            <a:ext cx="4591083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1974822" y="4484702"/>
            <a:ext cx="6191295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7499360" y="4699014"/>
            <a:ext cx="2857520" cy="214314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6451603" y="4699015"/>
            <a:ext cx="1047757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10356880" y="4699015"/>
            <a:ext cx="1809720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10833134" y="4913329"/>
            <a:ext cx="762005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日付プレースホルダ 14"/>
          <p:cNvSpPr>
            <a:spLocks noGrp="1"/>
          </p:cNvSpPr>
          <p:nvPr>
            <p:ph type="dt" sz="half" idx="10"/>
          </p:nvPr>
        </p:nvSpPr>
        <p:spPr>
          <a:xfrm>
            <a:off x="10477531" y="5707082"/>
            <a:ext cx="1524011" cy="36512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メイリオ" pitchFamily="50" charset="-128"/>
                <a:ea typeface="メイリオ" pitchFamily="50" charset="-128"/>
              </a:defRPr>
            </a:lvl1pPr>
          </a:lstStyle>
          <a:p>
            <a:fld id="{395A8F4C-AB63-4493-B324-25028DBC0CD6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870283" y="1294614"/>
            <a:ext cx="2364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rPr>
              <a:t>http://www.exmotion.co.jp/</a:t>
            </a:r>
            <a:endParaRPr kumimoji="1" lang="ja-JP" altLang="en-US" sz="1200" baseline="0" dirty="0">
              <a:solidFill>
                <a:schemeClr val="tx1">
                  <a:lumMod val="75000"/>
                  <a:lumOff val="25000"/>
                </a:schemeClr>
              </a:solidFill>
              <a:latin typeface="Verdana" pitchFamily="34" charset="0"/>
            </a:endParaRPr>
          </a:p>
        </p:txBody>
      </p:sp>
      <p:pic>
        <p:nvPicPr>
          <p:cNvPr id="1027" name="Picture 3" descr="C:\Documents and Settings\yuji.miwa\My Documents\My Pictures\00_EXM\キャッチコピー【あり】\logo_m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11" y="285728"/>
            <a:ext cx="3124200" cy="1009650"/>
          </a:xfrm>
          <a:prstGeom prst="rect">
            <a:avLst/>
          </a:prstGeom>
          <a:noFill/>
        </p:spPr>
      </p:pic>
      <p:sp>
        <p:nvSpPr>
          <p:cNvPr id="16" name="正方形/長方形 15"/>
          <p:cNvSpPr/>
          <p:nvPr/>
        </p:nvSpPr>
        <p:spPr>
          <a:xfrm>
            <a:off x="8166115" y="4484701"/>
            <a:ext cx="2209816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>
            <a:off x="10356880" y="4484700"/>
            <a:ext cx="1809720" cy="214314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5213344" y="4591858"/>
            <a:ext cx="4591083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/>
        </p:nvSpPr>
        <p:spPr>
          <a:xfrm>
            <a:off x="1974822" y="4484702"/>
            <a:ext cx="6191295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/>
          <p:cNvSpPr/>
          <p:nvPr/>
        </p:nvSpPr>
        <p:spPr>
          <a:xfrm>
            <a:off x="7499360" y="4699014"/>
            <a:ext cx="2857520" cy="214314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/>
          <p:cNvSpPr/>
          <p:nvPr/>
        </p:nvSpPr>
        <p:spPr>
          <a:xfrm>
            <a:off x="6451603" y="4699015"/>
            <a:ext cx="1047757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/>
        </p:nvSpPr>
        <p:spPr>
          <a:xfrm>
            <a:off x="10356880" y="4699015"/>
            <a:ext cx="1809720" cy="107157"/>
          </a:xfrm>
          <a:prstGeom prst="rect">
            <a:avLst/>
          </a:prstGeom>
          <a:solidFill>
            <a:srgbClr val="0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/>
        </p:nvSpPr>
        <p:spPr>
          <a:xfrm>
            <a:off x="10833134" y="4913329"/>
            <a:ext cx="762005" cy="107157"/>
          </a:xfrm>
          <a:prstGeom prst="rect">
            <a:avLst/>
          </a:prstGeom>
          <a:solidFill>
            <a:srgbClr val="CC0C0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870283" y="1294614"/>
            <a:ext cx="2364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rPr>
              <a:t>http://www.exmotion.co.jp/</a:t>
            </a:r>
            <a:endParaRPr kumimoji="1" lang="ja-JP" altLang="en-US" sz="1200" baseline="0" dirty="0">
              <a:solidFill>
                <a:schemeClr val="tx1">
                  <a:lumMod val="75000"/>
                  <a:lumOff val="25000"/>
                </a:schemeClr>
              </a:solidFill>
              <a:latin typeface="Verdana" pitchFamily="34" charset="0"/>
            </a:endParaRPr>
          </a:p>
        </p:txBody>
      </p:sp>
      <p:pic>
        <p:nvPicPr>
          <p:cNvPr id="26" name="Picture 3" descr="C:\Documents and Settings\yuji.miwa\My Documents\My Pictures\00_EXM\キャッチコピー【あり】\logo_m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11" y="285728"/>
            <a:ext cx="3124200" cy="1009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8498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B5EC4486-32A8-403E-B103-586783B4CF4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EE20FBF-DC22-45F8-9935-807EF2E0F6C9}"/>
              </a:ext>
            </a:extLst>
          </p:cNvPr>
          <p:cNvSpPr/>
          <p:nvPr/>
        </p:nvSpPr>
        <p:spPr>
          <a:xfrm>
            <a:off x="575733" y="2153764"/>
            <a:ext cx="11040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bIns="36000" rtlCol="0" anchor="ctr"/>
          <a:lstStyle/>
          <a:p>
            <a:endParaRPr lang="ja-JP" altLang="en-US" sz="1600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CF91AB-0A53-4972-8411-1F809AF369B1}"/>
              </a:ext>
            </a:extLst>
          </p:cNvPr>
          <p:cNvSpPr/>
          <p:nvPr/>
        </p:nvSpPr>
        <p:spPr>
          <a:xfrm>
            <a:off x="575733" y="3191496"/>
            <a:ext cx="11040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bIns="36000" rtlCol="0" anchor="ctr"/>
          <a:lstStyle/>
          <a:p>
            <a:endParaRPr lang="ja-JP" altLang="en-US" sz="1600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D069DEF-F7D8-4E50-B3F9-3A60B90B9315}"/>
              </a:ext>
            </a:extLst>
          </p:cNvPr>
          <p:cNvSpPr/>
          <p:nvPr/>
        </p:nvSpPr>
        <p:spPr>
          <a:xfrm>
            <a:off x="575733" y="1116032"/>
            <a:ext cx="11040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bIns="36000" rtlCol="0" anchor="ctr"/>
          <a:lstStyle/>
          <a:p>
            <a:endParaRPr lang="ja-JP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282FD4F-1CE0-462B-A6CF-01F7CA529503}"/>
              </a:ext>
            </a:extLst>
          </p:cNvPr>
          <p:cNvSpPr/>
          <p:nvPr/>
        </p:nvSpPr>
        <p:spPr>
          <a:xfrm>
            <a:off x="763821" y="2279764"/>
            <a:ext cx="72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36000"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+mn-ea"/>
              </a:rPr>
              <a:t>2</a:t>
            </a:r>
            <a:endParaRPr lang="ja-JP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2AC4DCF-DE5A-4F0A-A57E-322A9D9A13BA}"/>
              </a:ext>
            </a:extLst>
          </p:cNvPr>
          <p:cNvSpPr/>
          <p:nvPr/>
        </p:nvSpPr>
        <p:spPr>
          <a:xfrm>
            <a:off x="763821" y="3317496"/>
            <a:ext cx="72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36000"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+mn-ea"/>
              </a:rPr>
              <a:t>3</a:t>
            </a:r>
            <a:endParaRPr lang="ja-JP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974E7BA-B1DE-4553-ACCC-1419B7137128}"/>
              </a:ext>
            </a:extLst>
          </p:cNvPr>
          <p:cNvSpPr/>
          <p:nvPr/>
        </p:nvSpPr>
        <p:spPr>
          <a:xfrm>
            <a:off x="763821" y="1242032"/>
            <a:ext cx="72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36000"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+mn-ea"/>
              </a:rPr>
              <a:t>1</a:t>
            </a:r>
            <a:endParaRPr lang="ja-JP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2A59D92-8727-4D8A-BE2F-9B86F7CBB2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91220" y="1241425"/>
            <a:ext cx="9709149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製造業のソフトウェア開発に求められるもの</a:t>
            </a:r>
          </a:p>
        </p:txBody>
      </p:sp>
      <p:sp>
        <p:nvSpPr>
          <p:cNvPr id="16" name="テキスト プレースホルダー 12">
            <a:extLst>
              <a:ext uri="{FF2B5EF4-FFF2-40B4-BE49-F238E27FC236}">
                <a16:creationId xmlns:a16="http://schemas.microsoft.com/office/drawing/2014/main" id="{F0A3642A-7FC1-41B9-B14E-945FE39760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1220" y="2313923"/>
            <a:ext cx="9709149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製造業のソフトウェアにおける「設計品質」の問題点と課題</a:t>
            </a:r>
          </a:p>
        </p:txBody>
      </p:sp>
      <p:sp>
        <p:nvSpPr>
          <p:cNvPr id="18" name="テキスト プレースホルダー 12">
            <a:extLst>
              <a:ext uri="{FF2B5EF4-FFF2-40B4-BE49-F238E27FC236}">
                <a16:creationId xmlns:a16="http://schemas.microsoft.com/office/drawing/2014/main" id="{11A10625-B0F9-47DC-9A97-3EC70565D2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19032" y="3321242"/>
            <a:ext cx="9709149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なぜモデルなのか？</a:t>
            </a:r>
          </a:p>
        </p:txBody>
      </p:sp>
    </p:spTree>
    <p:extLst>
      <p:ext uri="{BB962C8B-B14F-4D97-AF65-F5344CB8AC3E}">
        <p14:creationId xmlns:p14="http://schemas.microsoft.com/office/powerpoint/2010/main" val="3135349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gi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9" name="フッター プレースホルダ 16"/>
          <p:cNvSpPr txBox="1">
            <a:spLocks/>
          </p:cNvSpPr>
          <p:nvPr/>
        </p:nvSpPr>
        <p:spPr>
          <a:xfrm>
            <a:off x="8001013" y="6412721"/>
            <a:ext cx="3714776" cy="357166"/>
          </a:xfrm>
          <a:prstGeom prst="rect">
            <a:avLst/>
          </a:prstGeom>
        </p:spPr>
        <p:txBody>
          <a:bodyPr/>
          <a:lstStyle>
            <a:lvl1pPr algn="ctr">
              <a:defRPr sz="1050" baseline="0">
                <a:latin typeface="Verdana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+mn-cs"/>
              </a:rPr>
              <a:t>Copyright © 2025 eXmotion Co., Ltd.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+mn-cs"/>
              </a:rPr>
              <a:t>All rights reserved.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+mn-cs"/>
            </a:endParaRPr>
          </a:p>
        </p:txBody>
      </p:sp>
      <p:pic>
        <p:nvPicPr>
          <p:cNvPr id="7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ED233246-B944-47FE-A012-29300EB2343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1708130" y="6370320"/>
            <a:ext cx="476250" cy="476250"/>
          </a:xfrm>
          <a:prstGeom prst="rect">
            <a:avLst/>
          </a:prstGeom>
          <a:noFill/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A5B662-95F9-45AF-83E1-4DEE1C5A3340}"/>
              </a:ext>
            </a:extLst>
          </p:cNvPr>
          <p:cNvSpPr txBox="1"/>
          <p:nvPr/>
        </p:nvSpPr>
        <p:spPr>
          <a:xfrm>
            <a:off x="285709" y="6413770"/>
            <a:ext cx="582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177A3D-317D-4B67-B1BC-79E0A74D6679}" type="slidenum">
              <a:rPr lang="ja-JP" altLang="en-US" sz="1600" smtClean="0">
                <a:latin typeface="+mn-ea"/>
                <a:ea typeface="+mn-ea"/>
              </a:rPr>
              <a:pPr/>
              <a:t>‹#›</a:t>
            </a:fld>
            <a:endParaRPr kumimoji="1" lang="ja-JP" altLang="en-US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1391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2F0E50-7C39-DC1E-1DC1-F7FA72E8B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3495" y="1000108"/>
            <a:ext cx="9308017" cy="1928826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Knowledge Base MCP</a:t>
            </a:r>
            <a:r>
              <a:rPr kumimoji="1" lang="ja-JP" altLang="en-US" dirty="0"/>
              <a:t>サーバー使用方法</a:t>
            </a:r>
            <a:br>
              <a:rPr kumimoji="1" lang="ja-JP" altLang="en-US" dirty="0"/>
            </a:b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D98A0C0-0352-6FDF-05E5-41BD489D1A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01955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0740D16-C552-574F-FF95-DBA4A49EE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/>
              <a:t>MCP</a:t>
            </a:r>
            <a:r>
              <a:rPr lang="ja-JP" altLang="en-US" dirty="0"/>
              <a:t>サーバ起動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9739596F-EFE8-FD67-3AA4-B5550F0315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ja-JP" dirty="0"/>
              <a:t>kb-</a:t>
            </a:r>
            <a:r>
              <a:rPr lang="en-US" altLang="ja-JP" dirty="0" err="1"/>
              <a:t>mcp</a:t>
            </a:r>
            <a:r>
              <a:rPr lang="ja-JP" altLang="en-US" dirty="0"/>
              <a:t> </a:t>
            </a:r>
            <a:r>
              <a:rPr lang="en-US" altLang="ja-JP" dirty="0"/>
              <a:t>UI</a:t>
            </a:r>
            <a:r>
              <a:rPr lang="ja-JP" altLang="en-US" dirty="0"/>
              <a:t>操作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56A8EFFF-A481-0197-185E-3033B2A4E4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タイムアウト設定</a:t>
            </a:r>
          </a:p>
        </p:txBody>
      </p:sp>
    </p:spTree>
    <p:extLst>
      <p:ext uri="{BB962C8B-B14F-4D97-AF65-F5344CB8AC3E}">
        <p14:creationId xmlns:p14="http://schemas.microsoft.com/office/powerpoint/2010/main" val="1103538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6AA6A-B4B5-195B-4347-8D6C3C32E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MCP</a:t>
            </a:r>
            <a:r>
              <a:rPr kumimoji="1" lang="ja-JP" altLang="en-US" dirty="0"/>
              <a:t>サーバ起動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B4F3CA-0630-9492-092B-EB003E458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10" y="1285861"/>
            <a:ext cx="7066435" cy="5085122"/>
          </a:xfrm>
        </p:spPr>
        <p:txBody>
          <a:bodyPr/>
          <a:lstStyle/>
          <a:p>
            <a:r>
              <a:rPr kumimoji="1" lang="ja-JP" altLang="en-US" dirty="0"/>
              <a:t>コマンドで起動</a:t>
            </a:r>
            <a:endParaRPr kumimoji="1" lang="en-US" altLang="ja-JP" dirty="0"/>
          </a:p>
          <a:p>
            <a:pPr lvl="1"/>
            <a:r>
              <a:rPr lang="en-US" altLang="ja-JP" dirty="0"/>
              <a:t>k</a:t>
            </a:r>
            <a:r>
              <a:rPr kumimoji="1" lang="en-US" altLang="ja-JP" dirty="0"/>
              <a:t>b-</a:t>
            </a:r>
            <a:r>
              <a:rPr kumimoji="1" lang="en-US" altLang="ja-JP" dirty="0" err="1"/>
              <a:t>mcp</a:t>
            </a:r>
            <a:r>
              <a:rPr kumimoji="1" lang="ja-JP" altLang="en-US" dirty="0"/>
              <a:t>ディレクトリで </a:t>
            </a:r>
            <a:r>
              <a:rPr kumimoji="1" lang="en-US" altLang="ja-JP" dirty="0"/>
              <a:t>”</a:t>
            </a:r>
            <a:r>
              <a:rPr kumimoji="1" lang="en-US" altLang="ja-JP" b="1" dirty="0" err="1"/>
              <a:t>uv</a:t>
            </a:r>
            <a:r>
              <a:rPr kumimoji="1" lang="en-US" altLang="ja-JP" b="1" dirty="0"/>
              <a:t> run kb-</a:t>
            </a:r>
            <a:r>
              <a:rPr kumimoji="1" lang="en-US" altLang="ja-JP" b="1" dirty="0" err="1"/>
              <a:t>mcp</a:t>
            </a:r>
            <a:r>
              <a:rPr kumimoji="1" lang="en-US" altLang="ja-JP" b="1" dirty="0"/>
              <a:t>-server</a:t>
            </a:r>
            <a:r>
              <a:rPr kumimoji="1" lang="en-US" altLang="ja-JP" dirty="0"/>
              <a:t>” </a:t>
            </a:r>
            <a:r>
              <a:rPr kumimoji="1" lang="ja-JP" altLang="en-US" dirty="0"/>
              <a:t>実行</a:t>
            </a:r>
            <a:endParaRPr kumimoji="1" lang="en-US" altLang="ja-JP" dirty="0"/>
          </a:p>
          <a:p>
            <a:r>
              <a:rPr lang="en-US" altLang="ja-JP" dirty="0"/>
              <a:t>UI</a:t>
            </a:r>
            <a:r>
              <a:rPr lang="ja-JP" altLang="en-US" dirty="0"/>
              <a:t>画面を立ち上げて起動</a:t>
            </a:r>
            <a:endParaRPr lang="en-US" altLang="ja-JP" dirty="0"/>
          </a:p>
          <a:p>
            <a:pPr lvl="1"/>
            <a:r>
              <a:rPr lang="en-US" altLang="ja-JP" dirty="0"/>
              <a:t>k</a:t>
            </a:r>
            <a:r>
              <a:rPr kumimoji="1" lang="en-US" altLang="ja-JP" dirty="0"/>
              <a:t>b-</a:t>
            </a:r>
            <a:r>
              <a:rPr kumimoji="1" lang="en-US" altLang="ja-JP" dirty="0" err="1"/>
              <a:t>mcp</a:t>
            </a:r>
            <a:r>
              <a:rPr kumimoji="1" lang="ja-JP" altLang="en-US" dirty="0"/>
              <a:t>ディレクトリで </a:t>
            </a:r>
            <a:r>
              <a:rPr kumimoji="1" lang="en-US" altLang="ja-JP" dirty="0"/>
              <a:t>”</a:t>
            </a:r>
            <a:r>
              <a:rPr kumimoji="1" lang="en-US" altLang="ja-JP" b="1" dirty="0" err="1"/>
              <a:t>uv</a:t>
            </a:r>
            <a:r>
              <a:rPr kumimoji="1" lang="en-US" altLang="ja-JP" b="1" dirty="0"/>
              <a:t> run kb-</a:t>
            </a:r>
            <a:r>
              <a:rPr kumimoji="1" lang="en-US" altLang="ja-JP" b="1" dirty="0" err="1"/>
              <a:t>mcp</a:t>
            </a:r>
            <a:r>
              <a:rPr kumimoji="1" lang="en-US" altLang="ja-JP" b="1" dirty="0"/>
              <a:t>-</a:t>
            </a:r>
            <a:r>
              <a:rPr kumimoji="1" lang="en-US" altLang="ja-JP" b="1" dirty="0" err="1"/>
              <a:t>ui</a:t>
            </a:r>
            <a:r>
              <a:rPr kumimoji="1" lang="en-US" altLang="ja-JP" dirty="0"/>
              <a:t>” </a:t>
            </a:r>
            <a:r>
              <a:rPr kumimoji="1" lang="ja-JP" altLang="en-US" dirty="0"/>
              <a:t>実行</a:t>
            </a:r>
            <a:endParaRPr kumimoji="1" lang="en-US" altLang="ja-JP" dirty="0"/>
          </a:p>
          <a:p>
            <a:pPr lvl="1"/>
            <a:r>
              <a:rPr kumimoji="1" lang="en-US" altLang="ja-JP" b="1" dirty="0"/>
              <a:t>Connect</a:t>
            </a:r>
            <a:r>
              <a:rPr kumimoji="1" lang="ja-JP" altLang="en-US" b="1" dirty="0"/>
              <a:t>クリック</a:t>
            </a:r>
            <a:r>
              <a:rPr kumimoji="1" lang="ja-JP" altLang="en-US" dirty="0"/>
              <a:t>でサーバ起動</a:t>
            </a:r>
            <a:r>
              <a:rPr kumimoji="1" lang="en-US" altLang="ja-JP" dirty="0"/>
              <a:t>/</a:t>
            </a:r>
            <a:r>
              <a:rPr kumimoji="1" lang="ja-JP" altLang="en-US" dirty="0"/>
              <a:t>接続</a:t>
            </a:r>
            <a:br>
              <a:rPr kumimoji="1" lang="en-US" altLang="ja-JP" dirty="0"/>
            </a:br>
            <a:endParaRPr kumimoji="1" lang="en-US" altLang="ja-JP" dirty="0"/>
          </a:p>
          <a:p>
            <a:pPr lvl="1"/>
            <a:r>
              <a:rPr lang="ja-JP" altLang="en-US" dirty="0"/>
              <a:t>接続設定（タブ</a:t>
            </a:r>
            <a:r>
              <a:rPr kumimoji="1" lang="ja-JP" altLang="en-US" dirty="0"/>
              <a:t>「</a:t>
            </a:r>
            <a:r>
              <a:rPr kumimoji="1" lang="en-US" altLang="ja-JP" dirty="0"/>
              <a:t>Connection Settings</a:t>
            </a:r>
            <a:r>
              <a:rPr kumimoji="1" lang="ja-JP" altLang="en-US" dirty="0"/>
              <a:t>」）</a:t>
            </a:r>
            <a:endParaRPr kumimoji="1" lang="en-US" altLang="ja-JP" dirty="0"/>
          </a:p>
          <a:p>
            <a:pPr lvl="2"/>
            <a:r>
              <a:rPr lang="en-US" altLang="ja-JP" dirty="0" err="1"/>
              <a:t>Trasport</a:t>
            </a:r>
            <a:r>
              <a:rPr lang="ja-JP" altLang="en-US" dirty="0"/>
              <a:t> </a:t>
            </a:r>
            <a:r>
              <a:rPr lang="en-US" altLang="ja-JP" dirty="0"/>
              <a:t>Type</a:t>
            </a:r>
            <a:endParaRPr kumimoji="1" lang="en-US" altLang="ja-JP" dirty="0"/>
          </a:p>
          <a:p>
            <a:pPr lvl="3"/>
            <a:r>
              <a:rPr kumimoji="1" lang="en-US" altLang="ja-JP" dirty="0" err="1"/>
              <a:t>Stdio</a:t>
            </a:r>
            <a:r>
              <a:rPr lang="ja-JP" altLang="en-US" dirty="0"/>
              <a:t>：ローカルプロセス起動</a:t>
            </a:r>
            <a:endParaRPr lang="en-US" altLang="ja-JP" dirty="0"/>
          </a:p>
          <a:p>
            <a:pPr lvl="3"/>
            <a:r>
              <a:rPr kumimoji="1" lang="en-US" altLang="ja-JP" dirty="0" err="1"/>
              <a:t>Streamable</a:t>
            </a:r>
            <a:r>
              <a:rPr kumimoji="1" lang="en-US" altLang="ja-JP" dirty="0"/>
              <a:t> HTTP</a:t>
            </a:r>
            <a:r>
              <a:rPr kumimoji="1" lang="ja-JP" altLang="en-US" dirty="0"/>
              <a:t>：リモートサーバ起動</a:t>
            </a:r>
            <a:r>
              <a:rPr kumimoji="1" lang="en-US" altLang="ja-JP" dirty="0"/>
              <a:t>/</a:t>
            </a:r>
            <a:r>
              <a:rPr kumimoji="1" lang="ja-JP" altLang="en-US" dirty="0"/>
              <a:t>接続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Connection Mode(</a:t>
            </a:r>
            <a:r>
              <a:rPr kumimoji="1" lang="en-US" altLang="ja-JP" dirty="0" err="1"/>
              <a:t>Streamable</a:t>
            </a:r>
            <a:r>
              <a:rPr kumimoji="1" lang="en-US" altLang="ja-JP" dirty="0"/>
              <a:t> HTTP</a:t>
            </a:r>
            <a:r>
              <a:rPr kumimoji="1" lang="ja-JP" altLang="en-US" dirty="0"/>
              <a:t>の場合</a:t>
            </a:r>
            <a:r>
              <a:rPr kumimoji="1" lang="en-US" altLang="ja-JP" dirty="0"/>
              <a:t>)</a:t>
            </a:r>
          </a:p>
          <a:p>
            <a:pPr lvl="3"/>
            <a:r>
              <a:rPr kumimoji="1" lang="en-US" altLang="ja-JP" dirty="0"/>
              <a:t>Automatic Launch</a:t>
            </a:r>
            <a:r>
              <a:rPr kumimoji="1" lang="ja-JP" altLang="en-US" dirty="0"/>
              <a:t>：サーバを起動</a:t>
            </a:r>
            <a:endParaRPr kumimoji="1" lang="en-US" altLang="ja-JP" dirty="0"/>
          </a:p>
          <a:p>
            <a:pPr lvl="3"/>
            <a:r>
              <a:rPr lang="en-US" altLang="ja-JP" dirty="0"/>
              <a:t>Manual Connection</a:t>
            </a:r>
            <a:r>
              <a:rPr lang="ja-JP" altLang="en-US" dirty="0"/>
              <a:t>：起動済みサーバに接続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FCF01B6-B2A7-595E-E0BD-5E75208673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61"/>
          <a:stretch/>
        </p:blipFill>
        <p:spPr>
          <a:xfrm>
            <a:off x="7428345" y="2360375"/>
            <a:ext cx="4600327" cy="356835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4FCA789-7753-579B-4A6E-6D94286E8345}"/>
              </a:ext>
            </a:extLst>
          </p:cNvPr>
          <p:cNvSpPr txBox="1"/>
          <p:nvPr/>
        </p:nvSpPr>
        <p:spPr>
          <a:xfrm>
            <a:off x="8901999" y="5928733"/>
            <a:ext cx="1653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k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b-</a:t>
            </a:r>
            <a:r>
              <a:rPr kumimoji="1" lang="en-US" altLang="ja-JP" sz="16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mcp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UI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画面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D314D37-C4F8-8B17-A013-9A8FFD20F001}"/>
              </a:ext>
            </a:extLst>
          </p:cNvPr>
          <p:cNvSpPr/>
          <p:nvPr/>
        </p:nvSpPr>
        <p:spPr>
          <a:xfrm>
            <a:off x="7505700" y="2981325"/>
            <a:ext cx="1085850" cy="1238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509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5FA29B-3B7D-915F-301E-2583FC07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</a:t>
            </a:r>
            <a:r>
              <a:rPr kumimoji="1" lang="en-US" altLang="ja-JP" dirty="0"/>
              <a:t>b-</a:t>
            </a:r>
            <a:r>
              <a:rPr kumimoji="1" lang="en-US" altLang="ja-JP" dirty="0" err="1"/>
              <a:t>mcp</a:t>
            </a:r>
            <a:r>
              <a:rPr kumimoji="1" lang="en-US" altLang="ja-JP" dirty="0"/>
              <a:t> UI</a:t>
            </a:r>
            <a:r>
              <a:rPr kumimoji="1" lang="ja-JP" altLang="en-US" dirty="0"/>
              <a:t>画面操作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7B2869-3BCB-0624-E3D6-82BE2816A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11" y="1285861"/>
            <a:ext cx="11420514" cy="3152789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３つの主要タブ</a:t>
            </a:r>
            <a:endParaRPr kumimoji="1" lang="en-US" altLang="ja-JP" dirty="0"/>
          </a:p>
          <a:p>
            <a:pPr lvl="1"/>
            <a:r>
              <a:rPr lang="ja-JP" altLang="en-US" dirty="0"/>
              <a:t>「</a:t>
            </a:r>
            <a:r>
              <a:rPr lang="en-US" altLang="ja-JP" dirty="0"/>
              <a:t>Search</a:t>
            </a:r>
            <a:r>
              <a:rPr lang="ja-JP" altLang="en-US" dirty="0"/>
              <a:t>」</a:t>
            </a:r>
            <a:endParaRPr lang="en-US" altLang="ja-JP" dirty="0"/>
          </a:p>
          <a:p>
            <a:pPr lvl="2"/>
            <a:r>
              <a:rPr lang="ja-JP" altLang="en-US" dirty="0"/>
              <a:t>指定されたクエリに関する情報をナレッジベースから検索を行う</a:t>
            </a:r>
            <a:endParaRPr lang="en-US" altLang="ja-JP" dirty="0"/>
          </a:p>
          <a:p>
            <a:pPr lvl="1"/>
            <a:r>
              <a:rPr kumimoji="1" lang="ja-JP" altLang="en-US" dirty="0"/>
              <a:t>「</a:t>
            </a:r>
            <a:r>
              <a:rPr kumimoji="1" lang="en-US" altLang="ja-JP" dirty="0"/>
              <a:t>Upload</a:t>
            </a:r>
            <a:r>
              <a:rPr kumimoji="1" lang="ja-JP" altLang="en-US" dirty="0"/>
              <a:t>」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ファイルをサーバにアップロードし、ナレッジベースへの追加を行う</a:t>
            </a:r>
            <a:endParaRPr kumimoji="1" lang="en-US" altLang="ja-JP" dirty="0"/>
          </a:p>
          <a:p>
            <a:pPr lvl="1"/>
            <a:r>
              <a:rPr lang="ja-JP" altLang="en-US" dirty="0"/>
              <a:t>「</a:t>
            </a:r>
            <a:r>
              <a:rPr lang="en-US" altLang="ja-JP" dirty="0"/>
              <a:t>Resources</a:t>
            </a:r>
            <a:r>
              <a:rPr lang="ja-JP" altLang="en-US" dirty="0"/>
              <a:t>」</a:t>
            </a:r>
            <a:endParaRPr lang="en-US" altLang="ja-JP" dirty="0"/>
          </a:p>
          <a:p>
            <a:pPr lvl="2"/>
            <a:r>
              <a:rPr kumimoji="1" lang="ja-JP" altLang="en-US" dirty="0"/>
              <a:t>ナレッジベースに登録されているリソースの確認・削除</a:t>
            </a:r>
            <a:r>
              <a:rPr lang="ja-JP" altLang="en-US" dirty="0"/>
              <a:t>・ダウンロードを行う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D1EE60F-5C75-8E45-5CE4-60D4009F6E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86" t="21688" r="13860" b="46962"/>
          <a:stretch/>
        </p:blipFill>
        <p:spPr>
          <a:xfrm>
            <a:off x="3771900" y="4158214"/>
            <a:ext cx="4648200" cy="220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00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5FA29B-3B7D-915F-301E-2583FC07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</a:t>
            </a:r>
            <a:r>
              <a:rPr kumimoji="1" lang="en-US" altLang="ja-JP" dirty="0"/>
              <a:t>b-</a:t>
            </a:r>
            <a:r>
              <a:rPr kumimoji="1" lang="en-US" altLang="ja-JP" dirty="0" err="1"/>
              <a:t>mcp</a:t>
            </a:r>
            <a:r>
              <a:rPr kumimoji="1" lang="en-US" altLang="ja-JP" dirty="0"/>
              <a:t> UI</a:t>
            </a:r>
            <a:r>
              <a:rPr kumimoji="1" lang="ja-JP" altLang="en-US" dirty="0"/>
              <a:t>画面操作　</a:t>
            </a:r>
            <a:r>
              <a:rPr kumimoji="1" lang="en-US" altLang="ja-JP" dirty="0"/>
              <a:t>–</a:t>
            </a:r>
            <a:r>
              <a:rPr lang="en-US" altLang="ja-JP" dirty="0"/>
              <a:t>Upload</a:t>
            </a:r>
            <a:r>
              <a:rPr kumimoji="1" lang="en-US" altLang="ja-JP" dirty="0"/>
              <a:t>–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7B2869-3BCB-0624-E3D6-82BE2816A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10" y="1285861"/>
            <a:ext cx="10417459" cy="5429287"/>
          </a:xfrm>
        </p:spPr>
        <p:txBody>
          <a:bodyPr/>
          <a:lstStyle/>
          <a:p>
            <a:r>
              <a:rPr kumimoji="1" lang="ja-JP" altLang="en-US" dirty="0"/>
              <a:t>事前準備</a:t>
            </a:r>
            <a:endParaRPr kumimoji="1" lang="en-US" altLang="ja-JP" dirty="0"/>
          </a:p>
          <a:p>
            <a:pPr marL="896938" lvl="1" indent="-457200">
              <a:buFont typeface="+mj-ea"/>
              <a:buAutoNum type="circleNumDbPlain"/>
            </a:pPr>
            <a:r>
              <a:rPr kumimoji="1" lang="ja-JP" altLang="en-US" dirty="0"/>
              <a:t>アップロードしたいファイル用のフォルダを</a:t>
            </a:r>
            <a:r>
              <a:rPr lang="en-US" altLang="ja-JP" dirty="0"/>
              <a:t>kb-</a:t>
            </a:r>
            <a:r>
              <a:rPr lang="en-US" altLang="ja-JP" dirty="0" err="1"/>
              <a:t>mcp</a:t>
            </a:r>
            <a:r>
              <a:rPr lang="ja-JP" altLang="en-US" dirty="0"/>
              <a:t>ディレクトリ上に</a:t>
            </a:r>
            <a:r>
              <a:rPr kumimoji="1" lang="ja-JP" altLang="en-US" dirty="0"/>
              <a:t>作成し、対象ファイルを格納</a:t>
            </a:r>
            <a:endParaRPr kumimoji="1" lang="en-US" altLang="ja-JP" dirty="0"/>
          </a:p>
          <a:p>
            <a:pPr marL="1263650" lvl="2" indent="-457200"/>
            <a:r>
              <a:rPr lang="ja-JP" altLang="en-US" dirty="0"/>
              <a:t>例）アップロード対象ファイル用に</a:t>
            </a:r>
            <a:r>
              <a:rPr lang="en-US" altLang="ja-JP" dirty="0"/>
              <a:t>files</a:t>
            </a:r>
            <a:r>
              <a:rPr lang="ja-JP" altLang="en-US" dirty="0"/>
              <a:t>フォルダを作成</a:t>
            </a:r>
            <a:endParaRPr lang="en-US" altLang="ja-JP" dirty="0"/>
          </a:p>
          <a:p>
            <a:pPr marL="541338" indent="-457200"/>
            <a:endParaRPr kumimoji="1" lang="en-US" altLang="ja-JP" dirty="0"/>
          </a:p>
          <a:p>
            <a:pPr marL="541338" indent="-457200"/>
            <a:endParaRPr lang="en-US" altLang="ja-JP" dirty="0"/>
          </a:p>
          <a:p>
            <a:pPr marL="541338" indent="-457200"/>
            <a:endParaRPr kumimoji="1" lang="en-US" altLang="ja-JP" dirty="0"/>
          </a:p>
          <a:p>
            <a:pPr marL="541338" indent="-457200"/>
            <a:r>
              <a:rPr lang="ja-JP" altLang="en-US" dirty="0"/>
              <a:t>アップロード手順</a:t>
            </a:r>
            <a:endParaRPr kumimoji="1" lang="en-US" altLang="ja-JP" dirty="0"/>
          </a:p>
          <a:p>
            <a:pPr marL="896938" lvl="1" indent="-457200">
              <a:buFont typeface="+mj-ea"/>
              <a:buAutoNum type="circleNumDbPlain"/>
            </a:pPr>
            <a:r>
              <a:rPr kumimoji="1" lang="en-US" altLang="ja-JP" dirty="0"/>
              <a:t>Select </a:t>
            </a:r>
            <a:r>
              <a:rPr kumimoji="1" lang="en-US" altLang="ja-JP" dirty="0" err="1"/>
              <a:t>Sourse</a:t>
            </a:r>
            <a:r>
              <a:rPr kumimoji="1" lang="ja-JP" altLang="en-US" dirty="0"/>
              <a:t>でアップロード対象を選択</a:t>
            </a:r>
            <a:endParaRPr kumimoji="1" lang="en-US" altLang="ja-JP" dirty="0"/>
          </a:p>
          <a:p>
            <a:pPr marL="896938" lvl="1" indent="-457200">
              <a:buFont typeface="+mj-ea"/>
              <a:buAutoNum type="circleNumDbPlain"/>
            </a:pPr>
            <a:r>
              <a:rPr lang="en-US" altLang="ja-JP" dirty="0"/>
              <a:t>Configuration</a:t>
            </a:r>
            <a:r>
              <a:rPr lang="ja-JP" altLang="en-US" dirty="0"/>
              <a:t>でアップロード先のパスを設定</a:t>
            </a:r>
            <a:endParaRPr lang="en-US" altLang="ja-JP" dirty="0"/>
          </a:p>
          <a:p>
            <a:pPr marL="1263650" lvl="2" indent="-457200"/>
            <a:r>
              <a:rPr lang="ja-JP" altLang="en-US" dirty="0"/>
              <a:t>検索時にパス指定をして検索範囲を限定できる</a:t>
            </a:r>
            <a:endParaRPr lang="en-US" altLang="ja-JP" dirty="0"/>
          </a:p>
          <a:p>
            <a:pPr marL="1263650" lvl="2" indent="-457200"/>
            <a:r>
              <a:rPr lang="ja-JP" altLang="en-US" dirty="0"/>
              <a:t>アップロード済みファイルへの上書きはデフォルト有効</a:t>
            </a:r>
            <a:endParaRPr lang="en-US" altLang="ja-JP" dirty="0"/>
          </a:p>
          <a:p>
            <a:pPr marL="896938" lvl="1" indent="-457200">
              <a:buFont typeface="+mj-ea"/>
              <a:buAutoNum type="circleNumDbPlain"/>
            </a:pPr>
            <a:r>
              <a:rPr lang="en-US" altLang="ja-JP" dirty="0"/>
              <a:t>Upload</a:t>
            </a:r>
            <a:r>
              <a:rPr lang="ja-JP" altLang="en-US" dirty="0"/>
              <a:t>をクリックでアップロード処理を実行</a:t>
            </a:r>
            <a:endParaRPr lang="en-US" altLang="ja-JP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194C2B5-F0AD-36D8-5FA1-4B18192DE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8145" y="2522494"/>
            <a:ext cx="4623331" cy="11233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📁 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kb-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mcp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 </a:t>
            </a:r>
            <a:b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</a:br>
            <a:r>
              <a:rPr kumimoji="0" lang="ja-JP" altLang="en-US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　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├── 📁 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.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venv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 </a:t>
            </a:r>
            <a:endParaRPr kumimoji="0" lang="en-US" altLang="ja-JP" sz="14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Arial Unicode MS"/>
              <a:ea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400" dirty="0">
                <a:solidFill>
                  <a:srgbClr val="212529"/>
                </a:solidFill>
                <a:latin typeface="Arial Unicode MS"/>
                <a:ea typeface="SFMono-Regular"/>
              </a:rPr>
              <a:t>　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├── 📁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src</a:t>
            </a:r>
            <a:endParaRPr kumimoji="0" lang="en-US" altLang="ja-JP" sz="14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Arial Unicode MS"/>
              <a:ea typeface="SFMono-Regular"/>
            </a:endParaRPr>
          </a:p>
          <a:p>
            <a:pPr eaLnBrk="0" hangingPunct="0"/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   </a:t>
            </a:r>
            <a:r>
              <a:rPr kumimoji="0" lang="ja-JP" altLang="en-US" sz="1400" dirty="0">
                <a:solidFill>
                  <a:srgbClr val="212529"/>
                </a:solidFill>
                <a:latin typeface="Arial Unicode MS"/>
                <a:ea typeface="SFMono-Regular"/>
              </a:rPr>
              <a:t> 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⋮</a:t>
            </a:r>
            <a:r>
              <a:rPr kumimoji="0" lang="ja-JP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ja-JP" sz="14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Arial Unicode MS"/>
              <a:ea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400" dirty="0">
                <a:solidFill>
                  <a:srgbClr val="212529"/>
                </a:solidFill>
                <a:latin typeface="Arial Unicode MS"/>
                <a:ea typeface="SFMono-Regular"/>
              </a:rPr>
              <a:t>　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└──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 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📁 </a:t>
            </a:r>
            <a:r>
              <a:rPr kumimoji="0" lang="en-US" altLang="ja-JP" sz="14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files</a:t>
            </a:r>
            <a:r>
              <a:rPr kumimoji="0" lang="ja-JP" altLang="ja-JP" sz="14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 </a:t>
            </a:r>
            <a:r>
              <a:rPr kumimoji="0" lang="en-US" altLang="ja-JP" sz="14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  </a:t>
            </a:r>
            <a:r>
              <a:rPr kumimoji="0" lang="ja-JP" altLang="en-US" sz="14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SFMono-Regular"/>
              </a:rPr>
              <a:t>←アップロード対象ファイルを格納</a:t>
            </a:r>
            <a:endParaRPr kumimoji="0" lang="ja-JP" altLang="ja-JP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12B1F543-DBFD-77A8-22A7-145C1C1636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273"/>
          <a:stretch/>
        </p:blipFill>
        <p:spPr>
          <a:xfrm>
            <a:off x="6907181" y="4009292"/>
            <a:ext cx="2354050" cy="225930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98F7C84-39C4-4E6E-1BA4-C4694FE83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061" y="4009291"/>
            <a:ext cx="2624859" cy="225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40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5FA29B-3B7D-915F-301E-2583FC07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</a:t>
            </a:r>
            <a:r>
              <a:rPr kumimoji="1" lang="en-US" altLang="ja-JP" dirty="0"/>
              <a:t>b-</a:t>
            </a:r>
            <a:r>
              <a:rPr kumimoji="1" lang="en-US" altLang="ja-JP" dirty="0" err="1"/>
              <a:t>mcp</a:t>
            </a:r>
            <a:r>
              <a:rPr kumimoji="1" lang="en-US" altLang="ja-JP" dirty="0"/>
              <a:t> UI</a:t>
            </a:r>
            <a:r>
              <a:rPr kumimoji="1" lang="ja-JP" altLang="en-US" dirty="0"/>
              <a:t>画面操作　</a:t>
            </a:r>
            <a:r>
              <a:rPr kumimoji="1" lang="en-US" altLang="ja-JP" dirty="0"/>
              <a:t>–Resource–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7B2869-3BCB-0624-E3D6-82BE2816A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10" y="1285861"/>
            <a:ext cx="6138535" cy="1129093"/>
          </a:xfrm>
        </p:spPr>
        <p:txBody>
          <a:bodyPr/>
          <a:lstStyle/>
          <a:p>
            <a:r>
              <a:rPr kumimoji="1" lang="ja-JP" altLang="en-US" dirty="0"/>
              <a:t>ナレッジベースに登録されているリソースの管理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リソースを選択後、削除</a:t>
            </a:r>
            <a:r>
              <a:rPr lang="ja-JP" altLang="en-US" dirty="0"/>
              <a:t>・</a:t>
            </a:r>
            <a:r>
              <a:rPr kumimoji="1" lang="ja-JP" altLang="en-US" dirty="0"/>
              <a:t>ダウンロードが可能</a:t>
            </a:r>
            <a:endParaRPr kumimoji="1"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EE069A2-3DED-2EEB-487B-A0AE78767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260" y="2190877"/>
            <a:ext cx="5099152" cy="4590559"/>
          </a:xfrm>
          <a:prstGeom prst="rect">
            <a:avLst/>
          </a:prstGeom>
        </p:spPr>
      </p:pic>
      <p:sp>
        <p:nvSpPr>
          <p:cNvPr id="7" name="吹き出し: 線 6">
            <a:extLst>
              <a:ext uri="{FF2B5EF4-FFF2-40B4-BE49-F238E27FC236}">
                <a16:creationId xmlns:a16="http://schemas.microsoft.com/office/drawing/2014/main" id="{F813409E-0539-8805-A103-292F6ACDBFC4}"/>
              </a:ext>
            </a:extLst>
          </p:cNvPr>
          <p:cNvSpPr/>
          <p:nvPr/>
        </p:nvSpPr>
        <p:spPr>
          <a:xfrm>
            <a:off x="6941982" y="3560458"/>
            <a:ext cx="4370788" cy="2488650"/>
          </a:xfrm>
          <a:prstGeom prst="borderCallout1">
            <a:avLst>
              <a:gd name="adj1" fmla="val 23255"/>
              <a:gd name="adj2" fmla="val -2677"/>
              <a:gd name="adj3" fmla="val 38290"/>
              <a:gd name="adj4" fmla="val -29125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36000" tIns="36000" rIns="36000" bIns="36000" rtlCol="0" anchor="t"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kumimoji="1" lang="ja-JP" altLang="en-US" dirty="0">
                <a:solidFill>
                  <a:schemeClr val="tx1"/>
                </a:solidFill>
              </a:rPr>
              <a:t>「</a:t>
            </a:r>
            <a:r>
              <a:rPr kumimoji="1" lang="en-US" altLang="ja-JP" dirty="0">
                <a:solidFill>
                  <a:schemeClr val="tx1"/>
                </a:solidFill>
              </a:rPr>
              <a:t>excel_100KB.xlsx</a:t>
            </a:r>
            <a:r>
              <a:rPr kumimoji="1" lang="ja-JP" altLang="en-US" dirty="0">
                <a:solidFill>
                  <a:schemeClr val="tx1"/>
                </a:solidFill>
              </a:rPr>
              <a:t>」は</a:t>
            </a:r>
            <a:r>
              <a:rPr kumimoji="1" lang="en-US" altLang="ja-JP" dirty="0">
                <a:solidFill>
                  <a:schemeClr val="tx1"/>
                </a:solidFill>
              </a:rPr>
              <a:t>”</a:t>
            </a:r>
            <a:r>
              <a:rPr kumimoji="1" lang="en-US" altLang="ja-JP" dirty="0" err="1">
                <a:solidFill>
                  <a:schemeClr val="tx1"/>
                </a:solidFill>
              </a:rPr>
              <a:t>upload_test</a:t>
            </a:r>
            <a:r>
              <a:rPr kumimoji="1" lang="en-US" altLang="ja-JP" dirty="0">
                <a:solidFill>
                  <a:schemeClr val="tx1"/>
                </a:solidFill>
              </a:rPr>
              <a:t>/excel/”</a:t>
            </a:r>
            <a:r>
              <a:rPr kumimoji="1" lang="ja-JP" altLang="en-US" dirty="0">
                <a:solidFill>
                  <a:schemeClr val="tx1"/>
                </a:solidFill>
              </a:rPr>
              <a:t>をパス指定して、アップロード</a:t>
            </a:r>
            <a:endParaRPr lang="en-US" altLang="ja-JP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kumimoji="1" lang="ja-JP" altLang="en-US" dirty="0">
                <a:solidFill>
                  <a:schemeClr val="tx1"/>
                </a:solidFill>
              </a:rPr>
              <a:t>「</a:t>
            </a:r>
            <a:r>
              <a:rPr lang="en-US" altLang="ja-JP" dirty="0">
                <a:solidFill>
                  <a:schemeClr val="tx1"/>
                </a:solidFill>
              </a:rPr>
              <a:t>markdown_USDM</a:t>
            </a:r>
            <a:r>
              <a:rPr kumimoji="1" lang="en-US" altLang="ja-JP" dirty="0">
                <a:solidFill>
                  <a:schemeClr val="tx1"/>
                </a:solidFill>
              </a:rPr>
              <a:t>.md</a:t>
            </a:r>
            <a:r>
              <a:rPr kumimoji="1" lang="ja-JP" altLang="en-US" dirty="0">
                <a:solidFill>
                  <a:schemeClr val="tx1"/>
                </a:solidFill>
              </a:rPr>
              <a:t>」は</a:t>
            </a:r>
            <a:r>
              <a:rPr kumimoji="1" lang="en-US" altLang="ja-JP" dirty="0">
                <a:solidFill>
                  <a:schemeClr val="tx1"/>
                </a:solidFill>
              </a:rPr>
              <a:t>”</a:t>
            </a:r>
            <a:r>
              <a:rPr kumimoji="1" lang="en-US" altLang="ja-JP" dirty="0" err="1">
                <a:solidFill>
                  <a:schemeClr val="tx1"/>
                </a:solidFill>
              </a:rPr>
              <a:t>upload_test</a:t>
            </a:r>
            <a:r>
              <a:rPr kumimoji="1" lang="en-US" altLang="ja-JP" dirty="0">
                <a:solidFill>
                  <a:schemeClr val="tx1"/>
                </a:solidFill>
              </a:rPr>
              <a:t>/markdown/”</a:t>
            </a:r>
            <a:r>
              <a:rPr kumimoji="1" lang="ja-JP" altLang="en-US" dirty="0">
                <a:solidFill>
                  <a:schemeClr val="tx1"/>
                </a:solidFill>
              </a:rPr>
              <a:t>をパス指定して、アップロード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ja-JP" dirty="0">
                <a:solidFill>
                  <a:schemeClr val="tx1"/>
                </a:solidFill>
              </a:rPr>
              <a:t>All Resources</a:t>
            </a:r>
            <a:r>
              <a:rPr lang="ja-JP" altLang="en-US" dirty="0">
                <a:solidFill>
                  <a:schemeClr val="tx1"/>
                </a:solidFill>
              </a:rPr>
              <a:t>直下に指定したパスでアップロードされる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764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5FA29B-3B7D-915F-301E-2583FC07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</a:t>
            </a:r>
            <a:r>
              <a:rPr kumimoji="1" lang="en-US" altLang="ja-JP" dirty="0"/>
              <a:t>b-</a:t>
            </a:r>
            <a:r>
              <a:rPr kumimoji="1" lang="en-US" altLang="ja-JP" dirty="0" err="1"/>
              <a:t>mcp</a:t>
            </a:r>
            <a:r>
              <a:rPr kumimoji="1" lang="en-US" altLang="ja-JP" dirty="0"/>
              <a:t> UI</a:t>
            </a:r>
            <a:r>
              <a:rPr kumimoji="1" lang="ja-JP" altLang="en-US" dirty="0"/>
              <a:t>画面操作　</a:t>
            </a:r>
            <a:r>
              <a:rPr kumimoji="1" lang="en-US" altLang="ja-JP" dirty="0"/>
              <a:t>–Search–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7B2869-3BCB-0624-E3D6-82BE2816A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11" y="1285861"/>
            <a:ext cx="7240504" cy="5085122"/>
          </a:xfrm>
        </p:spPr>
        <p:txBody>
          <a:bodyPr/>
          <a:lstStyle/>
          <a:p>
            <a:r>
              <a:rPr lang="ja-JP" altLang="en-US" dirty="0"/>
              <a:t>クエリを入力してリソースから検索</a:t>
            </a:r>
            <a:endParaRPr lang="en-US" altLang="ja-JP" dirty="0"/>
          </a:p>
          <a:p>
            <a:r>
              <a:rPr kumimoji="1" lang="ja-JP" altLang="en-US" dirty="0"/>
              <a:t>基本設定</a:t>
            </a:r>
            <a:endParaRPr kumimoji="1" lang="en-US" altLang="ja-JP" dirty="0"/>
          </a:p>
          <a:p>
            <a:pPr lvl="1"/>
            <a:r>
              <a:rPr lang="en-US" altLang="ja-JP" dirty="0"/>
              <a:t>Search Mode</a:t>
            </a:r>
            <a:r>
              <a:rPr lang="ja-JP" altLang="en-US" dirty="0"/>
              <a:t>：</a:t>
            </a:r>
            <a:r>
              <a:rPr lang="en-US" altLang="ja-JP" dirty="0"/>
              <a:t>hybrid/semantic/keyword</a:t>
            </a:r>
          </a:p>
          <a:p>
            <a:pPr lvl="1"/>
            <a:r>
              <a:rPr kumimoji="1" lang="en-US" altLang="ja-JP" dirty="0"/>
              <a:t>Limit</a:t>
            </a:r>
            <a:r>
              <a:rPr kumimoji="1" lang="ja-JP" altLang="en-US" dirty="0"/>
              <a:t>：表示する検索結果数（デフォルトは上位</a:t>
            </a:r>
            <a:r>
              <a:rPr kumimoji="1" lang="en-US" altLang="ja-JP" dirty="0"/>
              <a:t>5</a:t>
            </a:r>
            <a:r>
              <a:rPr kumimoji="1" lang="ja-JP" altLang="en-US" dirty="0"/>
              <a:t>個）</a:t>
            </a:r>
            <a:endParaRPr kumimoji="1" lang="en-US" altLang="ja-JP" dirty="0"/>
          </a:p>
          <a:p>
            <a:pPr lvl="1"/>
            <a:r>
              <a:rPr lang="en-US" altLang="ja-JP" dirty="0"/>
              <a:t>Reranking</a:t>
            </a:r>
            <a:r>
              <a:rPr lang="ja-JP" altLang="en-US" dirty="0"/>
              <a:t>：デフォルト無効</a:t>
            </a:r>
            <a:endParaRPr lang="en-US" altLang="ja-JP" dirty="0"/>
          </a:p>
          <a:p>
            <a:r>
              <a:rPr kumimoji="1" lang="ja-JP" altLang="en-US" dirty="0"/>
              <a:t>追加設定</a:t>
            </a:r>
            <a:endParaRPr kumimoji="1" lang="en-US" altLang="ja-JP" dirty="0"/>
          </a:p>
          <a:p>
            <a:pPr lvl="1"/>
            <a:r>
              <a:rPr lang="ja-JP" altLang="en-US" dirty="0"/>
              <a:t>スコア閾値</a:t>
            </a:r>
            <a:endParaRPr lang="en-US" altLang="ja-JP" dirty="0"/>
          </a:p>
          <a:p>
            <a:pPr lvl="2"/>
            <a:r>
              <a:rPr kumimoji="1" lang="en-US" altLang="ja-JP" dirty="0" err="1"/>
              <a:t>Dence</a:t>
            </a:r>
            <a:r>
              <a:rPr kumimoji="1" lang="en-US" altLang="ja-JP" dirty="0"/>
              <a:t> Threshold</a:t>
            </a:r>
            <a:r>
              <a:rPr kumimoji="1" lang="ja-JP" altLang="en-US" dirty="0"/>
              <a:t>：</a:t>
            </a:r>
            <a:r>
              <a:rPr kumimoji="1" lang="en-US" altLang="ja-JP" dirty="0"/>
              <a:t>semantic</a:t>
            </a:r>
            <a:r>
              <a:rPr kumimoji="1" lang="ja-JP" altLang="en-US" dirty="0"/>
              <a:t>検索閾値</a:t>
            </a:r>
            <a:r>
              <a:rPr kumimoji="1" lang="en-US" altLang="ja-JP" dirty="0"/>
              <a:t>(0.0~1.0)</a:t>
            </a:r>
          </a:p>
          <a:p>
            <a:pPr lvl="2"/>
            <a:r>
              <a:rPr lang="en-US" altLang="ja-JP" dirty="0"/>
              <a:t>Sparse Threshold</a:t>
            </a:r>
            <a:r>
              <a:rPr lang="ja-JP" altLang="en-US" dirty="0"/>
              <a:t>：</a:t>
            </a:r>
            <a:r>
              <a:rPr lang="en-US" altLang="ja-JP" dirty="0"/>
              <a:t>keyword</a:t>
            </a:r>
            <a:r>
              <a:rPr lang="ja-JP" altLang="en-US" dirty="0"/>
              <a:t>検索閾値</a:t>
            </a:r>
            <a:r>
              <a:rPr lang="en-US" altLang="ja-JP" dirty="0"/>
              <a:t>(0.0~10.0+)</a:t>
            </a:r>
          </a:p>
          <a:p>
            <a:pPr lvl="2"/>
            <a:r>
              <a:rPr kumimoji="1" lang="en-US" altLang="ja-JP" dirty="0" err="1"/>
              <a:t>Rerank</a:t>
            </a:r>
            <a:r>
              <a:rPr kumimoji="1" lang="en-US" altLang="ja-JP" dirty="0"/>
              <a:t> Threshold</a:t>
            </a:r>
            <a:r>
              <a:rPr kumimoji="1" lang="ja-JP" altLang="en-US" dirty="0"/>
              <a:t>：</a:t>
            </a:r>
            <a:r>
              <a:rPr lang="ja-JP" altLang="en-US" dirty="0"/>
              <a:t>デフォルト無効</a:t>
            </a:r>
            <a:endParaRPr kumimoji="1" lang="en-US" altLang="ja-JP" dirty="0"/>
          </a:p>
          <a:p>
            <a:pPr lvl="1"/>
            <a:r>
              <a:rPr lang="ja-JP" altLang="en-US" dirty="0"/>
              <a:t>スコープ・フィルタ</a:t>
            </a:r>
            <a:endParaRPr lang="en-US" altLang="ja-JP" dirty="0"/>
          </a:p>
          <a:p>
            <a:pPr lvl="2"/>
            <a:r>
              <a:rPr kumimoji="1" lang="ja-JP" altLang="en-US" dirty="0"/>
              <a:t>スコープパス：検索</a:t>
            </a:r>
            <a:r>
              <a:rPr lang="ja-JP" altLang="en-US" dirty="0"/>
              <a:t>時の検索対象パスを指定</a:t>
            </a:r>
            <a:endParaRPr kumimoji="1" lang="en-US" altLang="ja-JP" dirty="0"/>
          </a:p>
          <a:p>
            <a:pPr lvl="2"/>
            <a:r>
              <a:rPr lang="ja-JP" altLang="en-US" dirty="0"/>
              <a:t>メタデータフィルタ：</a:t>
            </a:r>
            <a:r>
              <a:rPr lang="en-US" altLang="ja-JP" dirty="0"/>
              <a:t>JSON</a:t>
            </a:r>
            <a:r>
              <a:rPr lang="ja-JP" altLang="en-US" dirty="0"/>
              <a:t>形式でフィルタ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F641954-3874-9F3A-8C5C-85A951586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462" y="1285861"/>
            <a:ext cx="4704239" cy="508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298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5FA29B-3B7D-915F-301E-2583FC07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タイムアウト設定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7B2869-3BCB-0624-E3D6-82BE2816A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10" y="1285861"/>
            <a:ext cx="6810415" cy="5085122"/>
          </a:xfrm>
        </p:spPr>
        <p:txBody>
          <a:bodyPr/>
          <a:lstStyle/>
          <a:p>
            <a:r>
              <a:rPr lang="ja-JP" altLang="en-US" dirty="0"/>
              <a:t>タイムアウト設定（タブ</a:t>
            </a:r>
            <a:r>
              <a:rPr kumimoji="1" lang="ja-JP" altLang="en-US" dirty="0"/>
              <a:t>「</a:t>
            </a:r>
            <a:r>
              <a:rPr lang="en-US" altLang="ja-JP" dirty="0"/>
              <a:t>Timeout</a:t>
            </a:r>
            <a:r>
              <a:rPr kumimoji="1" lang="en-US" altLang="ja-JP" dirty="0"/>
              <a:t> Settings</a:t>
            </a:r>
            <a:r>
              <a:rPr kumimoji="1" lang="ja-JP" altLang="en-US" dirty="0"/>
              <a:t>」）</a:t>
            </a:r>
            <a:endParaRPr kumimoji="1" lang="en-US" altLang="ja-JP" dirty="0"/>
          </a:p>
          <a:p>
            <a:pPr lvl="1"/>
            <a:r>
              <a:rPr lang="en-US" altLang="ja-JP" dirty="0"/>
              <a:t>Connection Timeout(sec)</a:t>
            </a:r>
          </a:p>
          <a:p>
            <a:pPr lvl="2"/>
            <a:r>
              <a:rPr lang="ja-JP" altLang="en-US" dirty="0"/>
              <a:t>接続に対するタイムアウト設定</a:t>
            </a:r>
            <a:endParaRPr lang="en-US" altLang="ja-JP" dirty="0"/>
          </a:p>
          <a:p>
            <a:pPr lvl="2"/>
            <a:r>
              <a:rPr lang="ja-JP" altLang="en-US" dirty="0"/>
              <a:t>デフォルト：</a:t>
            </a:r>
            <a:r>
              <a:rPr lang="en-US" altLang="ja-JP" dirty="0"/>
              <a:t>300.0 sec</a:t>
            </a:r>
          </a:p>
          <a:p>
            <a:pPr lvl="1"/>
            <a:r>
              <a:rPr kumimoji="1" lang="en-US" altLang="ja-JP" dirty="0"/>
              <a:t>Tool Execution Timeout(sec)</a:t>
            </a:r>
          </a:p>
          <a:p>
            <a:pPr lvl="2"/>
            <a:r>
              <a:rPr kumimoji="1" lang="ja-JP" altLang="en-US" dirty="0"/>
              <a:t>ナレッジベース検索等の処理に対するタイムアウト設定</a:t>
            </a:r>
            <a:endParaRPr kumimoji="1" lang="en-US" altLang="ja-JP" dirty="0"/>
          </a:p>
          <a:p>
            <a:pPr lvl="2"/>
            <a:r>
              <a:rPr lang="ja-JP" altLang="en-US" dirty="0"/>
              <a:t>デフォルト：無効</a:t>
            </a:r>
            <a:endParaRPr kumimoji="1" lang="en-US" altLang="ja-JP" dirty="0"/>
          </a:p>
          <a:p>
            <a:pPr lvl="1"/>
            <a:r>
              <a:rPr lang="en-US" altLang="ja-JP" dirty="0"/>
              <a:t>Upload Timeout(sec)</a:t>
            </a:r>
          </a:p>
          <a:p>
            <a:pPr lvl="2"/>
            <a:r>
              <a:rPr kumimoji="1" lang="ja-JP" altLang="en-US" dirty="0"/>
              <a:t>ファイルアップロード処理に対するタイムアウト設定</a:t>
            </a:r>
            <a:endParaRPr kumimoji="1" lang="en-US" altLang="ja-JP" dirty="0"/>
          </a:p>
          <a:p>
            <a:pPr lvl="2"/>
            <a:r>
              <a:rPr lang="ja-JP" altLang="en-US" dirty="0"/>
              <a:t>デフォルト：無効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0499E0B-F940-60BA-055C-C5DCC5DE89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61" r="32445"/>
          <a:stretch/>
        </p:blipFill>
        <p:spPr>
          <a:xfrm>
            <a:off x="7267069" y="1285861"/>
            <a:ext cx="4428693" cy="508512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35E3829-4B06-B554-911F-E797D4C32D08}"/>
              </a:ext>
            </a:extLst>
          </p:cNvPr>
          <p:cNvSpPr/>
          <p:nvPr/>
        </p:nvSpPr>
        <p:spPr>
          <a:xfrm>
            <a:off x="7377830" y="2530258"/>
            <a:ext cx="1553228" cy="24300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515611"/>
      </p:ext>
    </p:extLst>
  </p:cSld>
  <p:clrMapOvr>
    <a:masterClrMapping/>
  </p:clrMapOvr>
</p:sld>
</file>

<file path=ppt/theme/theme1.xml><?xml version="1.0" encoding="utf-8"?>
<a:theme xmlns:a="http://schemas.openxmlformats.org/drawingml/2006/main" name="exm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3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1"/>
          </a:solidFill>
        </a:ln>
      </a:spPr>
      <a:bodyPr lIns="36000" tIns="36000" rIns="36000" bIns="36000" rtlCol="0" anchor="ctr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m2" id="{FE5D4112-3B82-4684-A7AF-11EB4ECCDCA5}" vid="{FB30AC19-CD63-438C-8276-DBF4267BB3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exm2</Template>
  <TotalTime>116</TotalTime>
  <Words>483</Words>
  <Application>Microsoft Office PowerPoint</Application>
  <PresentationFormat>ワイド画面</PresentationFormat>
  <Paragraphs>74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7" baseType="lpstr">
      <vt:lpstr>Arial Unicode MS</vt:lpstr>
      <vt:lpstr>Meiryo UI</vt:lpstr>
      <vt:lpstr>ＭＳ Ｐゴシック</vt:lpstr>
      <vt:lpstr>MS UI Gothic</vt:lpstr>
      <vt:lpstr>メイリオ</vt:lpstr>
      <vt:lpstr>Arial</vt:lpstr>
      <vt:lpstr>Verdana</vt:lpstr>
      <vt:lpstr>Wingdings</vt:lpstr>
      <vt:lpstr>exm2</vt:lpstr>
      <vt:lpstr>Knowledge Base MCPサーバー使用方法 </vt:lpstr>
      <vt:lpstr>PowerPoint プレゼンテーション</vt:lpstr>
      <vt:lpstr>MCPサーバ起動</vt:lpstr>
      <vt:lpstr>kb-mcp UI画面操作</vt:lpstr>
      <vt:lpstr>kb-mcp UI画面操作　–Upload–</vt:lpstr>
      <vt:lpstr>kb-mcp UI画面操作　–Resource–</vt:lpstr>
      <vt:lpstr>kb-mcp UI画面操作　–Search–</vt:lpstr>
      <vt:lpstr>タイムアウト設定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Sueyoshi Akira-末吉 朗</dc:creator>
  <cp:lastModifiedBy>Sueyoshi Akira-末吉 朗</cp:lastModifiedBy>
  <cp:revision>6</cp:revision>
  <dcterms:created xsi:type="dcterms:W3CDTF">2025-12-24T06:23:07Z</dcterms:created>
  <dcterms:modified xsi:type="dcterms:W3CDTF">2025-12-24T08:19:44Z</dcterms:modified>
</cp:coreProperties>
</file>