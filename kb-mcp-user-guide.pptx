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50559" y="849660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3742692" y="1459260"/>
            <a:ext cx="1658466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kb-mcp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829133" y="2274540"/>
            <a:ext cx="3485436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はじめての使い方ガイド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56874" y="3089821"/>
            <a:ext cx="362995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誰でも簡単に使える！ナレッジベース検索システム</a:t>
            </a:r>
            <a:endParaRPr lang="en-US" sz="1200" dirty="0"/>
          </a:p>
        </p:txBody>
      </p:sp>
      <p:pic>
        <p:nvPicPr>
          <p:cNvPr id="6" name="Image 0" descr="/tmp/rasterized-gradient-0e84354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0143" y="3798391"/>
            <a:ext cx="2209651" cy="495300"/>
          </a:xfrm>
          <a:prstGeom prst="rect">
            <a:avLst/>
          </a:prstGeom>
          <a:effectLst>
            <a:outerShdw sx="100000" sy="100000" kx="0" ky="0" algn="bl" rotWithShape="0" blurRad="57150" dist="38100" dir="5400000">
              <a:srgbClr val="000000">
                <a:alpha val="10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1831218" y="3912691"/>
            <a:ext cx="1787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3ステップで開始</a:t>
            </a:r>
            <a:endParaRPr lang="en-US" sz="1500" dirty="0"/>
          </a:p>
        </p:txBody>
      </p:sp>
      <p:pic>
        <p:nvPicPr>
          <p:cNvPr id="8" name="Image 1" descr="/tmp/rasterized-gradient-b594661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0294" y="3798391"/>
            <a:ext cx="1594693" cy="495300"/>
          </a:xfrm>
          <a:prstGeom prst="rect">
            <a:avLst/>
          </a:prstGeom>
          <a:effectLst>
            <a:outerShdw sx="100000" sy="100000" kx="0" ky="0" algn="bl" rotWithShape="0" blurRad="57150" dist="38100" dir="5400000">
              <a:srgbClr val="000000">
                <a:alpha val="10000"/>
              </a:srgbClr>
            </a:outerShdw>
          </a:effectLst>
        </p:spPr>
      </p:pic>
      <p:sp>
        <p:nvSpPr>
          <p:cNvPr id="9" name="Text 5"/>
          <p:cNvSpPr/>
          <p:nvPr/>
        </p:nvSpPr>
        <p:spPr>
          <a:xfrm>
            <a:off x="4237519" y="3912691"/>
            <a:ext cx="11602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初心者OK</a:t>
            </a:r>
            <a:endParaRPr lang="en-US" sz="1500" dirty="0"/>
          </a:p>
        </p:txBody>
      </p:sp>
      <p:pic>
        <p:nvPicPr>
          <p:cNvPr id="10" name="Image 2" descr="/tmp/rasterized-gradient-f520354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5488" y="3798391"/>
            <a:ext cx="1718221" cy="495300"/>
          </a:xfrm>
          <a:prstGeom prst="rect">
            <a:avLst/>
          </a:prstGeom>
          <a:effectLst>
            <a:outerShdw sx="100000" sy="100000" kx="0" ky="0" algn="bl" rotWithShape="0" blurRad="57150" dist="38100" dir="5400000">
              <a:srgbClr val="000000">
                <a:alpha val="10000"/>
              </a:srgbClr>
            </a:outerShdw>
          </a:effectLst>
        </p:spPr>
      </p:pic>
      <p:sp>
        <p:nvSpPr>
          <p:cNvPr id="11" name="Text 6"/>
          <p:cNvSpPr/>
          <p:nvPr/>
        </p:nvSpPr>
        <p:spPr>
          <a:xfrm>
            <a:off x="6021477" y="3912691"/>
            <a:ext cx="12862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すぐ使える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381000"/>
            <a:ext cx="409022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2100"/>
              </a:spcAft>
              <a:buNone/>
            </a:pPr>
            <a:r>
              <a:rPr lang="en-US" sz="27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kb-mcpでできること</a:t>
            </a:r>
            <a:endParaRPr lang="en-US" sz="2700" dirty="0"/>
          </a:p>
        </p:txBody>
      </p:sp>
      <p:pic>
        <p:nvPicPr>
          <p:cNvPr id="3" name="Image 0" descr="/tmp/rasterized-gradient-0fb077f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544092"/>
            <a:ext cx="2565350" cy="1759893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800100" y="1772692"/>
            <a:ext cx="2150313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spcAft>
                <a:spcPts val="900"/>
              </a:spcAft>
              <a:buNone/>
            </a:pPr>
            <a:r>
              <a:rPr lang="en-US" sz="27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800100" y="2366963"/>
            <a:ext cx="2150313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賢い検索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00100" y="2648843"/>
            <a:ext cx="2150313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質問を入力するだけで、関連するドキュメントを自動で見つけます</a:t>
            </a:r>
            <a:endParaRPr lang="en-US" sz="1050" dirty="0"/>
          </a:p>
        </p:txBody>
      </p:sp>
      <p:pic>
        <p:nvPicPr>
          <p:cNvPr id="7" name="Image 1" descr="/tmp/rasterized-gradient-6398b27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9250" y="1544092"/>
            <a:ext cx="2565350" cy="1759893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pic>
      <p:sp>
        <p:nvSpPr>
          <p:cNvPr id="8" name="Text 4"/>
          <p:cNvSpPr/>
          <p:nvPr/>
        </p:nvSpPr>
        <p:spPr>
          <a:xfrm>
            <a:off x="3517850" y="1772692"/>
            <a:ext cx="2150313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spcAft>
                <a:spcPts val="900"/>
              </a:spcAft>
              <a:buNone/>
            </a:pPr>
            <a:r>
              <a:rPr lang="en-US" sz="27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📤</a:t>
            </a:r>
            <a:endParaRPr lang="en-US" sz="2700" dirty="0"/>
          </a:p>
        </p:txBody>
      </p:sp>
      <p:sp>
        <p:nvSpPr>
          <p:cNvPr id="9" name="Text 5"/>
          <p:cNvSpPr/>
          <p:nvPr/>
        </p:nvSpPr>
        <p:spPr>
          <a:xfrm>
            <a:off x="3517850" y="2366963"/>
            <a:ext cx="2150313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簡単アップロード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517850" y="2648843"/>
            <a:ext cx="2150313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ドラッグ＆ドロップでファイルをアップロード。様々な形式に対応</a:t>
            </a:r>
            <a:endParaRPr lang="en-US" sz="1050" dirty="0"/>
          </a:p>
        </p:txBody>
      </p:sp>
      <p:pic>
        <p:nvPicPr>
          <p:cNvPr id="11" name="Image 2" descr="/tmp/rasterized-gradient-7b9fdb4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7001" y="1544092"/>
            <a:ext cx="2565350" cy="1759893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pic>
      <p:sp>
        <p:nvSpPr>
          <p:cNvPr id="12" name="Text 7"/>
          <p:cNvSpPr/>
          <p:nvPr/>
        </p:nvSpPr>
        <p:spPr>
          <a:xfrm>
            <a:off x="6235601" y="1772692"/>
            <a:ext cx="2150313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spcAft>
                <a:spcPts val="900"/>
              </a:spcAft>
              <a:buNone/>
            </a:pPr>
            <a:r>
              <a:rPr lang="en-US" sz="27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</a:t>
            </a:r>
            <a:endParaRPr lang="en-US" sz="2700" dirty="0"/>
          </a:p>
        </p:txBody>
      </p:sp>
      <p:sp>
        <p:nvSpPr>
          <p:cNvPr id="13" name="Text 8"/>
          <p:cNvSpPr/>
          <p:nvPr/>
        </p:nvSpPr>
        <p:spPr>
          <a:xfrm>
            <a:off x="6235601" y="2366963"/>
            <a:ext cx="2150313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一元管理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235601" y="2648843"/>
            <a:ext cx="2150313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すべてのドキュメントを一箇所で管理。いつでもアクセス可能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571500" y="3494484"/>
            <a:ext cx="8001000" cy="866775"/>
          </a:xfrm>
          <a:prstGeom prst="roundRect">
            <a:avLst>
              <a:gd name="adj" fmla="val 1318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1"/>
          <p:cNvSpPr/>
          <p:nvPr/>
        </p:nvSpPr>
        <p:spPr>
          <a:xfrm>
            <a:off x="590550" y="3494484"/>
            <a:ext cx="0" cy="866775"/>
          </a:xfrm>
          <a:prstGeom prst="line">
            <a:avLst/>
          </a:prstGeom>
          <a:noFill/>
          <a:ln w="38100">
            <a:solidFill>
              <a:srgbClr val="1791E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38200" y="3684984"/>
            <a:ext cx="7655814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12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こんな方におすすめ：</a:t>
            </a:r>
            <a:pPr algn="l" indent="0" marL="0">
              <a:lnSpc>
                <a:spcPts val="1913"/>
              </a:lnSpc>
              <a:buNone/>
            </a:pPr>
            <a:r>
              <a:rPr lang="en-US" sz="11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大量のドキュメントから必要な情報を素早く見つけたい、チームで知識を共有したい、AIアシスタントと連携したい</a:t>
            </a:r>
            <a:endParaRPr lang="en-US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76250"/>
            <a:ext cx="409022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900"/>
              </a:spcAft>
              <a:buNone/>
            </a:pPr>
            <a:r>
              <a:rPr lang="en-US" sz="27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開始前の準備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1085850"/>
            <a:ext cx="816102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2100"/>
              </a:spcAft>
              <a:buNone/>
            </a:pPr>
            <a:r>
              <a:rPr lang="en-US" sz="12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必要なものを確認しましょう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71500" y="1602135"/>
            <a:ext cx="800100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  <a:effectLst>
            <a:outerShdw sx="100000" sy="100000" kx="0" ky="0" algn="bl" rotWithShape="0" blurRad="76200" dist="1905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00100" y="1830735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1791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85974" y="1899345"/>
            <a:ext cx="29101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09700" y="1834604"/>
            <a:ext cx="7072884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3.12以上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409700" y="2097435"/>
            <a:ext cx="707288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プログラミング言語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71500" y="2687985"/>
            <a:ext cx="800100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  <a:effectLst>
            <a:outerShdw sx="100000" sy="100000" kx="0" ky="0" algn="bl" rotWithShape="0" blurRad="76200" dist="1905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85974" y="2985195"/>
            <a:ext cx="29101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09700" y="2920454"/>
            <a:ext cx="7072884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uv（パッケージマネージャ）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409700" y="3183285"/>
            <a:ext cx="707288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依存関係を自動管理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71500" y="3773835"/>
            <a:ext cx="800100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  <a:effectLst>
            <a:outerShdw sx="100000" sy="100000" kx="0" ky="0" algn="bl" rotWithShape="0" blurRad="76200" dist="1905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85974" y="4071045"/>
            <a:ext cx="29101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09700" y="4006304"/>
            <a:ext cx="7072884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8GB以上のメモリ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409700" y="4269135"/>
            <a:ext cx="707288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AIモデルを動かすために必要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45d5989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428625"/>
            <a:ext cx="8001000" cy="60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581025"/>
            <a:ext cx="387648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ステップ1️⃣：インストール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71500" y="1135707"/>
            <a:ext cx="8001000" cy="1891308"/>
          </a:xfrm>
          <a:prstGeom prst="roundRect">
            <a:avLst>
              <a:gd name="adj" fmla="val 6043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  <a:effectLst>
            <a:outerShdw sx="100000" sy="100000" kx="0" ky="0" algn="bl" rotWithShape="0" blurRad="76200" dist="1905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800100" y="1364307"/>
            <a:ext cx="7694676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1050"/>
              </a:spcAft>
              <a:buNone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📥 ダウンロード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00100" y="1703338"/>
            <a:ext cx="7543800" cy="813197"/>
          </a:xfrm>
          <a:prstGeom prst="roundRect">
            <a:avLst>
              <a:gd name="adj" fmla="val 937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971550" y="1836688"/>
            <a:ext cx="734491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リポジトリをダウンロード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971550" y="2009924"/>
            <a:ext cx="734491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clone &lt;repository-url&gt;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71550" y="2196554"/>
            <a:ext cx="734491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 kb-mcp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0100" y="2611785"/>
            <a:ext cx="769467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プロジェクトのファイルをダウンロードして、フォルダに移動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71500" y="3198465"/>
            <a:ext cx="8001000" cy="1704677"/>
          </a:xfrm>
          <a:prstGeom prst="roundRect">
            <a:avLst>
              <a:gd name="adj" fmla="val 6705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  <a:effectLst>
            <a:outerShdw sx="100000" sy="100000" kx="0" ky="0" algn="bl" rotWithShape="0" blurRad="76200" dist="1905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800100" y="3427065"/>
            <a:ext cx="7694676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1050"/>
              </a:spcAft>
              <a:buNone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セットアップ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00100" y="3766096"/>
            <a:ext cx="7543800" cy="626566"/>
          </a:xfrm>
          <a:prstGeom prst="roundRect">
            <a:avLst>
              <a:gd name="adj" fmla="val 12162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971550" y="3899446"/>
            <a:ext cx="734491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必要なツールを自動インストール</a:t>
            </a:r>
            <a:endParaRPr lang="en-US" sz="975" dirty="0"/>
          </a:p>
        </p:txBody>
      </p:sp>
      <p:sp>
        <p:nvSpPr>
          <p:cNvPr id="15" name="Text 12"/>
          <p:cNvSpPr/>
          <p:nvPr/>
        </p:nvSpPr>
        <p:spPr>
          <a:xfrm>
            <a:off x="971550" y="4072682"/>
            <a:ext cx="734491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 sync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00100" y="4487912"/>
            <a:ext cx="769467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このコマンド1つで、必要なものがすべて揃います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e505a4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428625"/>
            <a:ext cx="8001000" cy="60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581025"/>
            <a:ext cx="385705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ステップ2️⃣：起動する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71500" y="1428006"/>
            <a:ext cx="8001000" cy="1498997"/>
          </a:xfrm>
          <a:prstGeom prst="roundRect">
            <a:avLst>
              <a:gd name="adj" fmla="val 7625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  <a:effectLst>
            <a:outerShdw sx="100000" sy="100000" kx="0" ky="0" algn="bl" rotWithShape="0" blurRad="76200" dist="1905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800100" y="1656606"/>
            <a:ext cx="7694676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サーバーを起動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00100" y="1976586"/>
            <a:ext cx="7543800" cy="453330"/>
          </a:xfrm>
          <a:prstGeom prst="roundRect">
            <a:avLst>
              <a:gd name="adj" fmla="val 16809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971550" y="2109936"/>
            <a:ext cx="734491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 run kb-mcp-server --transport http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0100" y="2525167"/>
            <a:ext cx="76946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初回は2-3分かかります。2回目以降は数秒で起動</a:t>
            </a:r>
            <a:endParaRPr lang="en-US" sz="975" dirty="0"/>
          </a:p>
        </p:txBody>
      </p:sp>
      <p:sp>
        <p:nvSpPr>
          <p:cNvPr id="9" name="Text 6"/>
          <p:cNvSpPr/>
          <p:nvPr/>
        </p:nvSpPr>
        <p:spPr>
          <a:xfrm>
            <a:off x="571500" y="3079403"/>
            <a:ext cx="8001000" cy="1531441"/>
          </a:xfrm>
          <a:prstGeom prst="roundRect">
            <a:avLst>
              <a:gd name="adj" fmla="val 7464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  <a:effectLst>
            <a:outerShdw sx="100000" sy="100000" kx="0" ky="0" algn="bl" rotWithShape="0" blurRad="76200" dist="1905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800100" y="3308003"/>
            <a:ext cx="7694676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 管理画面を開く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00100" y="3627983"/>
            <a:ext cx="769467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新しいターミナルで実行：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00100" y="3928914"/>
            <a:ext cx="7543800" cy="453330"/>
          </a:xfrm>
          <a:prstGeom prst="roundRect">
            <a:avLst>
              <a:gd name="adj" fmla="val 16809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971550" y="4062264"/>
            <a:ext cx="734491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 run kb-mcp-ui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6b1e59b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428625"/>
            <a:ext cx="8001000" cy="60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581025"/>
            <a:ext cx="385705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ステップ3️⃣：接続する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71500" y="1425922"/>
            <a:ext cx="816102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管理画面の左側「🔌 Connection」セクションで設定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71500" y="1791593"/>
            <a:ext cx="8001000" cy="2085975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  <a:effectLst>
            <a:outerShdw sx="100000" sy="100000" kx="0" ky="0" algn="bl" rotWithShape="0" blurRad="76200" dist="1905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00100" y="2020193"/>
            <a:ext cx="7543800" cy="466725"/>
          </a:xfrm>
          <a:prstGeom prst="roundRect">
            <a:avLst>
              <a:gd name="adj" fmla="val 1632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933450" y="2153543"/>
            <a:ext cx="74226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1️⃣ Transport Type: Streamable HTTP</a:t>
            </a:r>
            <a:endParaRPr lang="en-US" sz="1125" dirty="0"/>
          </a:p>
        </p:txBody>
      </p:sp>
      <p:sp>
        <p:nvSpPr>
          <p:cNvPr id="8" name="Text 5"/>
          <p:cNvSpPr/>
          <p:nvPr/>
        </p:nvSpPr>
        <p:spPr>
          <a:xfrm>
            <a:off x="800100" y="2601218"/>
            <a:ext cx="7543800" cy="466725"/>
          </a:xfrm>
          <a:prstGeom prst="roundRect">
            <a:avLst>
              <a:gd name="adj" fmla="val 1632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933450" y="2734568"/>
            <a:ext cx="74226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2️⃣ Connection Mode: Manual Connection</a:t>
            </a:r>
            <a:endParaRPr lang="en-US" sz="1125" dirty="0"/>
          </a:p>
        </p:txBody>
      </p:sp>
      <p:sp>
        <p:nvSpPr>
          <p:cNvPr id="10" name="Text 7"/>
          <p:cNvSpPr/>
          <p:nvPr/>
        </p:nvSpPr>
        <p:spPr>
          <a:xfrm>
            <a:off x="800100" y="3182243"/>
            <a:ext cx="7543800" cy="466725"/>
          </a:xfrm>
          <a:prstGeom prst="roundRect">
            <a:avLst>
              <a:gd name="adj" fmla="val 1632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933450" y="3315593"/>
            <a:ext cx="74226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3️⃣ Server URL: http://localhost:8000/mcp</a:t>
            </a:r>
            <a:endParaRPr lang="en-US" sz="1125" dirty="0"/>
          </a:p>
        </p:txBody>
      </p:sp>
      <p:pic>
        <p:nvPicPr>
          <p:cNvPr id="12" name="Image 1" descr="/tmp/rasterized-gradient-f74d15e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029968"/>
            <a:ext cx="8001000" cy="58281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4662" y="4201418"/>
            <a:ext cx="769467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4️⃣ 「Connect」ボタンをクリック！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381000"/>
            <a:ext cx="518807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2100"/>
              </a:spcAft>
              <a:buNone/>
            </a:pPr>
            <a:r>
              <a:rPr lang="en-US" sz="27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📤 ファイルをアップロードする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1150739"/>
            <a:ext cx="2565350" cy="1645741"/>
          </a:xfrm>
          <a:prstGeom prst="roundRect">
            <a:avLst>
              <a:gd name="adj" fmla="val 6945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  <a:effectLst>
            <a:outerShdw sx="100000" sy="100000" kx="0" ky="0" algn="bl" rotWithShape="0" blurRad="76200" dist="1905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19150" y="1398389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1791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90736" y="1455539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1️⃣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9150" y="1893689"/>
            <a:ext cx="211145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Uploadタブを開く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9150" y="2152650"/>
            <a:ext cx="2111451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画面上部の「📤 Upload」をクリック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3289250" y="1150739"/>
            <a:ext cx="2565350" cy="1645741"/>
          </a:xfrm>
          <a:prstGeom prst="roundRect">
            <a:avLst>
              <a:gd name="adj" fmla="val 6945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  <a:effectLst>
            <a:outerShdw sx="100000" sy="100000" kx="0" ky="0" algn="bl" rotWithShape="0" blurRad="76200" dist="1905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608487" y="1455539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2️⃣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36900" y="1893689"/>
            <a:ext cx="211145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ファイルを選択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36900" y="2152650"/>
            <a:ext cx="2111451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ドラッグ＆ドロップまたは「Browse files」から選択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6007001" y="1249710"/>
            <a:ext cx="2565350" cy="1447651"/>
          </a:xfrm>
          <a:prstGeom prst="roundRect">
            <a:avLst>
              <a:gd name="adj" fmla="val 7896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  <a:effectLst>
            <a:outerShdw sx="100000" sy="100000" kx="0" ky="0" algn="bl" rotWithShape="0" blurRad="76200" dist="1905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326237" y="1554510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3️⃣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54651" y="1992660"/>
            <a:ext cx="211145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パスを入力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54651" y="2251621"/>
            <a:ext cx="2111451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例：docs/manual.pdf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571500" y="2986980"/>
            <a:ext cx="8001000" cy="1059061"/>
          </a:xfrm>
          <a:prstGeom prst="roundRect">
            <a:avLst>
              <a:gd name="adj" fmla="val 1079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00100" y="3177480"/>
            <a:ext cx="769467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対応しているファイル形式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0100" y="3474541"/>
            <a:ext cx="584448" cy="381000"/>
          </a:xfrm>
          <a:prstGeom prst="roundRect">
            <a:avLst>
              <a:gd name="adj" fmla="val 50000"/>
            </a:avLst>
          </a:prstGeom>
          <a:solidFill>
            <a:srgbClr val="1791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33450" y="3531691"/>
            <a:ext cx="3241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.pdf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60748" y="3474541"/>
            <a:ext cx="722114" cy="381000"/>
          </a:xfrm>
          <a:prstGeom prst="roundRect">
            <a:avLst>
              <a:gd name="adj" fmla="val 50000"/>
            </a:avLst>
          </a:prstGeom>
          <a:solidFill>
            <a:srgbClr val="1791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594098" y="3531691"/>
            <a:ext cx="4645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.docx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259062" y="3474541"/>
            <a:ext cx="647700" cy="381000"/>
          </a:xfrm>
          <a:prstGeom prst="roundRect">
            <a:avLst>
              <a:gd name="adj" fmla="val 50000"/>
            </a:avLst>
          </a:prstGeom>
          <a:solidFill>
            <a:srgbClr val="1791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392412" y="3531691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.xlsx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982962" y="3474541"/>
            <a:ext cx="679698" cy="381000"/>
          </a:xfrm>
          <a:prstGeom prst="roundRect">
            <a:avLst>
              <a:gd name="adj" fmla="val 50000"/>
            </a:avLst>
          </a:prstGeom>
          <a:solidFill>
            <a:srgbClr val="1791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116312" y="3531691"/>
            <a:ext cx="42125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.pptx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738860" y="3474541"/>
            <a:ext cx="584299" cy="381000"/>
          </a:xfrm>
          <a:prstGeom prst="roundRect">
            <a:avLst>
              <a:gd name="adj" fmla="val 50000"/>
            </a:avLst>
          </a:prstGeom>
          <a:solidFill>
            <a:srgbClr val="1791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872210" y="3531691"/>
            <a:ext cx="3239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.md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399359" y="3474541"/>
            <a:ext cx="520750" cy="381000"/>
          </a:xfrm>
          <a:prstGeom prst="roundRect">
            <a:avLst>
              <a:gd name="adj" fmla="val 50000"/>
            </a:avLst>
          </a:prstGeom>
          <a:solidFill>
            <a:srgbClr val="1791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532709" y="3531691"/>
            <a:ext cx="2591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.txt</a:t>
            </a:r>
            <a:endParaRPr lang="en-US" sz="1500" dirty="0"/>
          </a:p>
        </p:txBody>
      </p:sp>
      <p:pic>
        <p:nvPicPr>
          <p:cNvPr id="30" name="Image 0" descr="/tmp/rasterized-gradient-1e5e4fd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4236541"/>
            <a:ext cx="8001000" cy="518071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724662" y="4388941"/>
            <a:ext cx="769467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「Upload」ボタンをクリックして完了！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28625"/>
            <a:ext cx="445941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1950"/>
              </a:spcAft>
              <a:buNone/>
            </a:pPr>
            <a:r>
              <a:rPr lang="en-US" sz="27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ドキュメントを検索する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1195536"/>
            <a:ext cx="8001000" cy="1683841"/>
          </a:xfrm>
          <a:prstGeom prst="roundRect">
            <a:avLst>
              <a:gd name="adj" fmla="val 6788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  <a:effectLst>
            <a:outerShdw sx="100000" sy="100000" kx="0" ky="0" algn="bl" rotWithShape="0" blurRad="76200" dist="1905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00100" y="1424136"/>
            <a:ext cx="7694676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1050"/>
              </a:spcAft>
              <a:buNone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検索は超簡単！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00100" y="1763167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1791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71686" y="1820317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1️⃣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0100" y="2239417"/>
            <a:ext cx="24742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Searchタブを開く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800100" y="2477542"/>
            <a:ext cx="247426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画面上部の「🔍 Search」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3430786" y="1820317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2️⃣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359200" y="2239417"/>
            <a:ext cx="24742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質問を入力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3359200" y="2477542"/>
            <a:ext cx="247426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普通の日本語でOK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989886" y="1820317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3️⃣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18299" y="2239417"/>
            <a:ext cx="24742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検索ボタンをクリック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5918299" y="2477542"/>
            <a:ext cx="247426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結果が瞬時に表示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571500" y="3050828"/>
            <a:ext cx="8001000" cy="1497211"/>
          </a:xfrm>
          <a:prstGeom prst="roundRect">
            <a:avLst>
              <a:gd name="adj" fmla="val 763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81050" y="3222278"/>
            <a:ext cx="7733538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検索のコツ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1050" y="3500289"/>
            <a:ext cx="7581900" cy="8763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「システム要件は？」のように自然な質問でOK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キーワードだけでも検索できます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検索モードは「Hybrid」のままで大丈夫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28625"/>
            <a:ext cx="445941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1950"/>
              </a:spcAft>
              <a:buNone/>
            </a:pPr>
            <a:r>
              <a:rPr lang="en-US" sz="27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ドキュメントを管理する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1135707"/>
            <a:ext cx="816102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Resourcesタブですべてのファイルを確認・管理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71500" y="1501378"/>
            <a:ext cx="2578150" cy="1281708"/>
          </a:xfrm>
          <a:prstGeom prst="roundRect">
            <a:avLst>
              <a:gd name="adj" fmla="val 8918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  <a:effectLst>
            <a:outerShdw sx="100000" sy="100000" kx="0" ky="0" algn="bl" rotWithShape="0" blurRad="76200" dist="1905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81050" y="1710928"/>
            <a:ext cx="220223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81050" y="2160389"/>
            <a:ext cx="220223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統計情報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81050" y="2400300"/>
            <a:ext cx="220223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ドキュメント数を確認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3283000" y="1501378"/>
            <a:ext cx="2578150" cy="1281708"/>
          </a:xfrm>
          <a:prstGeom prst="roundRect">
            <a:avLst>
              <a:gd name="adj" fmla="val 8918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  <a:effectLst>
            <a:outerShdw sx="100000" sy="100000" kx="0" ky="0" algn="bl" rotWithShape="0" blurRad="76200" dist="1905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92550" y="1710928"/>
            <a:ext cx="220223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🌳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492550" y="2160389"/>
            <a:ext cx="220223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ファイルツリー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92550" y="2400300"/>
            <a:ext cx="220223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フォルダ構造で表示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994499" y="1501378"/>
            <a:ext cx="2578150" cy="1281708"/>
          </a:xfrm>
          <a:prstGeom prst="roundRect">
            <a:avLst>
              <a:gd name="adj" fmla="val 8918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  <a:effectLst>
            <a:outerShdw sx="100000" sy="100000" kx="0" ky="0" algn="bl" rotWithShape="0" blurRad="76200" dist="1905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204049" y="1710928"/>
            <a:ext cx="220223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204049" y="2160389"/>
            <a:ext cx="220223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ファイル操作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04049" y="2400300"/>
            <a:ext cx="220223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ダウンロードや削除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571500" y="2935486"/>
            <a:ext cx="8001000" cy="1672530"/>
          </a:xfrm>
          <a:prstGeom prst="roundRect">
            <a:avLst>
              <a:gd name="adj" fmla="val 6834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  <a:effectLst>
            <a:outerShdw sx="100000" sy="100000" kx="0" ky="0" algn="bl" rotWithShape="0" blurRad="76200" dist="1905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00100" y="3164086"/>
            <a:ext cx="7694676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1050"/>
              </a:spcAft>
              <a:buNone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できること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00100" y="3503116"/>
            <a:ext cx="7543800" cy="8763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ファイルを選択してダウンロード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不要なファイルを削除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検索やフィルタで素早く見つける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28625"/>
            <a:ext cx="409022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1950"/>
              </a:spcAft>
              <a:buNone/>
            </a:pPr>
            <a:r>
              <a:rPr lang="en-US" sz="27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よくある質問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1037481"/>
            <a:ext cx="8001000" cy="908596"/>
          </a:xfrm>
          <a:prstGeom prst="roundRect">
            <a:avLst>
              <a:gd name="adj" fmla="val 12580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  <a:effectLst>
            <a:outerShdw sx="100000" sy="100000" kx="0" ky="0" algn="bl" rotWithShape="0" blurRad="76200" dist="1905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00100" y="1247031"/>
            <a:ext cx="76946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Q. サーバーを閉じてしまいました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800100" y="1523256"/>
            <a:ext cx="769467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もう一度「uv run kb-mcp-server --transport http」を実行してください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71500" y="2079427"/>
            <a:ext cx="8001000" cy="908596"/>
          </a:xfrm>
          <a:prstGeom prst="roundRect">
            <a:avLst>
              <a:gd name="adj" fmla="val 12580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  <a:effectLst>
            <a:outerShdw sx="100000" sy="100000" kx="0" ky="0" algn="bl" rotWithShape="0" blurRad="76200" dist="1905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00100" y="2288977"/>
            <a:ext cx="76946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Q. 検索結果が出ません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800100" y="2565202"/>
            <a:ext cx="769467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まずは「Upload」タブからファイルをアップロードしてください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71500" y="3121372"/>
            <a:ext cx="8001000" cy="908596"/>
          </a:xfrm>
          <a:prstGeom prst="roundRect">
            <a:avLst>
              <a:gd name="adj" fmla="val 12580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  <a:effectLst>
            <a:outerShdw sx="100000" sy="100000" kx="0" ky="0" algn="bl" rotWithShape="0" blurRad="76200" dist="1905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00100" y="3330922"/>
            <a:ext cx="76946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Q. Connectできません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800100" y="3607147"/>
            <a:ext cx="769467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サーバーが起動しているか確認してください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71500" y="4163318"/>
            <a:ext cx="8001000" cy="542925"/>
          </a:xfrm>
          <a:prstGeom prst="roundRect">
            <a:avLst>
              <a:gd name="adj" fmla="val 2105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05231" y="4334768"/>
            <a:ext cx="77335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詳しくはREADME.mdファイルを参照してください</a:t>
            </a:r>
            <a:endParaRPr lang="en-US" sz="11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76250"/>
            <a:ext cx="409022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2100"/>
              </a:spcAft>
              <a:buNone/>
            </a:pPr>
            <a:r>
              <a:rPr lang="en-US" sz="270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便利な使い方</a:t>
            </a:r>
            <a:endParaRPr lang="en-US" sz="2700" dirty="0"/>
          </a:p>
        </p:txBody>
      </p:sp>
      <p:pic>
        <p:nvPicPr>
          <p:cNvPr id="3" name="Image 0" descr="/tmp/rasterized-gradient-fa67699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167854"/>
            <a:ext cx="8001000" cy="1794421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819150" y="1415504"/>
            <a:ext cx="7655814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Aft>
                <a:spcPts val="750"/>
              </a:spcAft>
              <a:buNone/>
            </a:pPr>
            <a:r>
              <a:rPr lang="en-US" sz="24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19150" y="1937445"/>
            <a:ext cx="76558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大量ファイルの一括アップロード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19150" y="2261295"/>
            <a:ext cx="7505700" cy="453330"/>
          </a:xfrm>
          <a:prstGeom prst="roundRect">
            <a:avLst>
              <a:gd name="adj" fmla="val 16809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971550" y="2394645"/>
            <a:ext cx="734491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 run tools/upload_content.py ./folder</a:t>
            </a:r>
            <a:endParaRPr lang="en-US" sz="1050" dirty="0"/>
          </a:p>
        </p:txBody>
      </p:sp>
      <p:pic>
        <p:nvPicPr>
          <p:cNvPr id="8" name="Image 1" descr="/tmp/rasterized-gradient-d54bcba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152775"/>
            <a:ext cx="8001000" cy="1584871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pic>
      <p:sp>
        <p:nvSpPr>
          <p:cNvPr id="9" name="Text 5"/>
          <p:cNvSpPr/>
          <p:nvPr/>
        </p:nvSpPr>
        <p:spPr>
          <a:xfrm>
            <a:off x="819150" y="3400425"/>
            <a:ext cx="7655814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Aft>
                <a:spcPts val="750"/>
              </a:spcAft>
              <a:buNone/>
            </a:pPr>
            <a:r>
              <a:rPr lang="en-US" sz="24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819150" y="3922365"/>
            <a:ext cx="76558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Claudeと連携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19150" y="4246215"/>
            <a:ext cx="7655814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FFFFFF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Desktopアプリに登録すれば、Claudeから直接検索できます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0992" y="400199"/>
            <a:ext cx="581867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40"/>
              </a:lnSpc>
              <a:buNone/>
            </a:pPr>
            <a:r>
              <a:rPr lang="en-US" sz="36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🎉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551873" y="1306860"/>
            <a:ext cx="204025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179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準備完了！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3123937" y="1973610"/>
            <a:ext cx="2895978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95"/>
              </a:lnSpc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これであなたもkb-mcpマスターです</a:t>
            </a:r>
            <a:endParaRPr lang="en-US" sz="1350" dirty="0"/>
          </a:p>
          <a:p>
            <a:pPr algn="ctr" indent="0" marL="0">
              <a:lnSpc>
                <a:spcPts val="2295"/>
              </a:lnSpc>
              <a:buNone/>
            </a:pPr>
            <a:r>
              <a:rPr lang="en-US" sz="13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さっそく使ってみましょう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345085" y="2937421"/>
            <a:ext cx="4453830" cy="1710630"/>
          </a:xfrm>
          <a:prstGeom prst="roundRect">
            <a:avLst>
              <a:gd name="adj" fmla="val 6682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  <a:effectLst>
            <a:outerShdw sx="100000" sy="100000" kx="0" ky="0" algn="bl" rotWithShape="0" blurRad="76200" dist="1905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592011" y="3185071"/>
            <a:ext cx="3959977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spcAft>
                <a:spcPts val="1050"/>
              </a:spcAft>
              <a:buNone/>
            </a:pPr>
            <a:r>
              <a:rPr lang="en-US" sz="13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まずはこれから始めよう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630835" y="3524101"/>
            <a:ext cx="3882330" cy="876300"/>
          </a:xfrm>
          <a:prstGeom prst="rect">
            <a:avLst/>
          </a:prstGeom>
          <a:noFill/>
          <a:ln/>
        </p:spPr>
        <p:txBody>
          <a:bodyPr wrap="square" lIns="104775" tIns="0" rIns="0" bIns="0" rtlCol="0" anchor="t"/>
          <a:lstStyle/>
          <a:p>
            <a:pPr algn="ctr" marL="104775" indent="-1047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サンプルのPDFやドキュメントをアップロード</a:t>
            </a:r>
            <a:endParaRPr lang="en-US" sz="1350" dirty="0"/>
          </a:p>
          <a:p>
            <a:pPr algn="ctr" marL="104775" indent="-1047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簡単な質問で検索してみる</a:t>
            </a:r>
            <a:endParaRPr lang="en-US" sz="1350" dirty="0"/>
          </a:p>
          <a:p>
            <a:pPr algn="ctr" marL="104775" indent="-10477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検索結果を確認して、使い方に慣れる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kb-mcp はじめての使い方ガイド</dc:title>
  <dc:subject>初心者向け：誰でも簡単に使えるナレッジベース検索システム</dc:subject>
  <dc:creator>kb-mcp</dc:creator>
  <cp:lastModifiedBy>kb-mcp</cp:lastModifiedBy>
  <cp:revision>1</cp:revision>
  <dcterms:created xsi:type="dcterms:W3CDTF">2025-12-24T09:58:25Z</dcterms:created>
  <dcterms:modified xsi:type="dcterms:W3CDTF">2025-12-24T09:58:25Z</dcterms:modified>
</cp:coreProperties>
</file>